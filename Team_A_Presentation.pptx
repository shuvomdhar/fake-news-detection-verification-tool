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56" r:id="rId4"/>
    <p:sldId id="257" r:id="rId5"/>
    <p:sldId id="266" r:id="rId6"/>
    <p:sldId id="260" r:id="rId7"/>
    <p:sldId id="271" r:id="rId8"/>
    <p:sldId id="264" r:id="rId9"/>
    <p:sldId id="262" r:id="rId10"/>
    <p:sldId id="269" r:id="rId11"/>
    <p:sldId id="272" r:id="rId12"/>
    <p:sldId id="273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9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2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8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6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4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1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9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3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0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FE148-076C-41DF-A18F-DC93428300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F8B65-033D-CFB2-C155-5B8E036B3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14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C99831-B8EC-7B1B-270F-29E42A099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08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268017-816F-4A15-8A8A-9B3DCC986A7D}"/>
              </a:ext>
            </a:extLst>
          </p:cNvPr>
          <p:cNvCxnSpPr>
            <a:cxnSpLocks/>
          </p:cNvCxnSpPr>
          <p:nvPr/>
        </p:nvCxnSpPr>
        <p:spPr>
          <a:xfrm>
            <a:off x="6096000" y="258444"/>
            <a:ext cx="0" cy="583125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D60A07-8CAF-4306-8250-132A6689A67E}"/>
              </a:ext>
            </a:extLst>
          </p:cNvPr>
          <p:cNvGrpSpPr/>
          <p:nvPr/>
        </p:nvGrpSpPr>
        <p:grpSpPr>
          <a:xfrm>
            <a:off x="6010067" y="566467"/>
            <a:ext cx="171866" cy="171866"/>
            <a:chOff x="1666858" y="794921"/>
            <a:chExt cx="258298" cy="25829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812C15-491A-4C35-899C-00388CC6BF18}"/>
                </a:ext>
              </a:extLst>
            </p:cNvPr>
            <p:cNvSpPr/>
            <p:nvPr/>
          </p:nvSpPr>
          <p:spPr>
            <a:xfrm>
              <a:off x="1693333" y="821396"/>
              <a:ext cx="205349" cy="205349"/>
            </a:xfrm>
            <a:prstGeom prst="ellipse">
              <a:avLst/>
            </a:prstGeom>
            <a:solidFill>
              <a:srgbClr val="017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BA8DE4A-2B51-49F8-8D30-B46FB55E2690}"/>
                </a:ext>
              </a:extLst>
            </p:cNvPr>
            <p:cNvSpPr/>
            <p:nvPr/>
          </p:nvSpPr>
          <p:spPr>
            <a:xfrm>
              <a:off x="1666858" y="794921"/>
              <a:ext cx="258298" cy="258298"/>
            </a:xfrm>
            <a:prstGeom prst="ellipse">
              <a:avLst/>
            </a:prstGeom>
            <a:noFill/>
            <a:ln>
              <a:solidFill>
                <a:srgbClr val="017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F678E9-6EB4-4A4C-8A99-0DAA98B5E095}"/>
              </a:ext>
            </a:extLst>
          </p:cNvPr>
          <p:cNvGrpSpPr/>
          <p:nvPr/>
        </p:nvGrpSpPr>
        <p:grpSpPr>
          <a:xfrm>
            <a:off x="6010067" y="1570025"/>
            <a:ext cx="171866" cy="171866"/>
            <a:chOff x="6010067" y="1824954"/>
            <a:chExt cx="171866" cy="17186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1DD571-4207-494B-BE9C-C0532BB1EE24}"/>
                </a:ext>
              </a:extLst>
            </p:cNvPr>
            <p:cNvSpPr/>
            <p:nvPr/>
          </p:nvSpPr>
          <p:spPr>
            <a:xfrm>
              <a:off x="6027683" y="1842570"/>
              <a:ext cx="136635" cy="136635"/>
            </a:xfrm>
            <a:prstGeom prst="ellipse">
              <a:avLst/>
            </a:prstGeom>
            <a:solidFill>
              <a:srgbClr val="909C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AFD8988-5EF9-48A5-AD52-81F64B12527A}"/>
                </a:ext>
              </a:extLst>
            </p:cNvPr>
            <p:cNvSpPr/>
            <p:nvPr/>
          </p:nvSpPr>
          <p:spPr>
            <a:xfrm>
              <a:off x="6010067" y="1824954"/>
              <a:ext cx="171866" cy="171866"/>
            </a:xfrm>
            <a:prstGeom prst="ellipse">
              <a:avLst/>
            </a:prstGeom>
            <a:noFill/>
            <a:ln>
              <a:solidFill>
                <a:srgbClr val="909C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06AA68-9EB1-4711-A93D-4F8F4D3CC722}"/>
              </a:ext>
            </a:extLst>
          </p:cNvPr>
          <p:cNvGrpSpPr/>
          <p:nvPr/>
        </p:nvGrpSpPr>
        <p:grpSpPr>
          <a:xfrm>
            <a:off x="6010067" y="2573583"/>
            <a:ext cx="171866" cy="171866"/>
            <a:chOff x="6010067" y="2828512"/>
            <a:chExt cx="171866" cy="17186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8D8B83-927E-4DB3-B65F-5F866011E37A}"/>
                </a:ext>
              </a:extLst>
            </p:cNvPr>
            <p:cNvSpPr/>
            <p:nvPr/>
          </p:nvSpPr>
          <p:spPr>
            <a:xfrm>
              <a:off x="6027683" y="2846128"/>
              <a:ext cx="136635" cy="136635"/>
            </a:xfrm>
            <a:prstGeom prst="ellipse">
              <a:avLst/>
            </a:prstGeom>
            <a:solidFill>
              <a:srgbClr val="FE2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503556-CE74-44DB-A0BD-5B8EC1AF3153}"/>
                </a:ext>
              </a:extLst>
            </p:cNvPr>
            <p:cNvSpPr/>
            <p:nvPr/>
          </p:nvSpPr>
          <p:spPr>
            <a:xfrm>
              <a:off x="6010067" y="2828512"/>
              <a:ext cx="171866" cy="171866"/>
            </a:xfrm>
            <a:prstGeom prst="ellipse">
              <a:avLst/>
            </a:prstGeom>
            <a:noFill/>
            <a:ln>
              <a:solidFill>
                <a:srgbClr val="FE24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FA4070-D3A8-427B-B145-2ECBA721C5E2}"/>
              </a:ext>
            </a:extLst>
          </p:cNvPr>
          <p:cNvGrpSpPr/>
          <p:nvPr/>
        </p:nvGrpSpPr>
        <p:grpSpPr>
          <a:xfrm>
            <a:off x="6010067" y="3577141"/>
            <a:ext cx="171866" cy="171866"/>
            <a:chOff x="6010067" y="3832070"/>
            <a:chExt cx="171866" cy="17186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79BE3C4-7F67-4204-A312-84C45ED4A0FA}"/>
                </a:ext>
              </a:extLst>
            </p:cNvPr>
            <p:cNvSpPr/>
            <p:nvPr/>
          </p:nvSpPr>
          <p:spPr>
            <a:xfrm>
              <a:off x="6027683" y="3849686"/>
              <a:ext cx="136635" cy="136635"/>
            </a:xfrm>
            <a:prstGeom prst="ellipse">
              <a:avLst/>
            </a:prstGeom>
            <a:solidFill>
              <a:srgbClr val="FE61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6CE97DB-B14A-4942-A7F6-89BC69B17538}"/>
                </a:ext>
              </a:extLst>
            </p:cNvPr>
            <p:cNvSpPr/>
            <p:nvPr/>
          </p:nvSpPr>
          <p:spPr>
            <a:xfrm>
              <a:off x="6010067" y="3832070"/>
              <a:ext cx="171866" cy="171866"/>
            </a:xfrm>
            <a:prstGeom prst="ellipse">
              <a:avLst/>
            </a:prstGeom>
            <a:noFill/>
            <a:ln>
              <a:solidFill>
                <a:srgbClr val="FE61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B8D2BA-927A-49E2-8695-099D65D5EFD5}"/>
              </a:ext>
            </a:extLst>
          </p:cNvPr>
          <p:cNvGrpSpPr/>
          <p:nvPr/>
        </p:nvGrpSpPr>
        <p:grpSpPr>
          <a:xfrm>
            <a:off x="6010067" y="4580699"/>
            <a:ext cx="171866" cy="171866"/>
            <a:chOff x="6010067" y="4835628"/>
            <a:chExt cx="171866" cy="17186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17CA27D-EED4-4148-8D27-C37C78A9FD61}"/>
                </a:ext>
              </a:extLst>
            </p:cNvPr>
            <p:cNvSpPr/>
            <p:nvPr/>
          </p:nvSpPr>
          <p:spPr>
            <a:xfrm>
              <a:off x="6027683" y="4853244"/>
              <a:ext cx="136635" cy="136635"/>
            </a:xfrm>
            <a:prstGeom prst="ellipse">
              <a:avLst/>
            </a:prstGeom>
            <a:solidFill>
              <a:srgbClr val="FFCB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E859F02-5480-4505-BB33-456FCA2BF587}"/>
                </a:ext>
              </a:extLst>
            </p:cNvPr>
            <p:cNvSpPr/>
            <p:nvPr/>
          </p:nvSpPr>
          <p:spPr>
            <a:xfrm>
              <a:off x="6010067" y="4835628"/>
              <a:ext cx="171866" cy="171866"/>
            </a:xfrm>
            <a:prstGeom prst="ellipse">
              <a:avLst/>
            </a:prstGeom>
            <a:noFill/>
            <a:ln>
              <a:solidFill>
                <a:srgbClr val="FFCB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BF1AE5B-B3F8-4E5C-9F3D-8BB5C9D71F83}"/>
              </a:ext>
            </a:extLst>
          </p:cNvPr>
          <p:cNvGrpSpPr/>
          <p:nvPr/>
        </p:nvGrpSpPr>
        <p:grpSpPr>
          <a:xfrm>
            <a:off x="6010067" y="5584257"/>
            <a:ext cx="171866" cy="171866"/>
            <a:chOff x="6010067" y="5839186"/>
            <a:chExt cx="171866" cy="17186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E154BD3-7F15-4EB8-AF1C-33617FE962B4}"/>
                </a:ext>
              </a:extLst>
            </p:cNvPr>
            <p:cNvSpPr/>
            <p:nvPr/>
          </p:nvSpPr>
          <p:spPr>
            <a:xfrm>
              <a:off x="6027683" y="5856802"/>
              <a:ext cx="136635" cy="136635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DDF5025-37FB-4309-BDC3-C18FE45F9F52}"/>
                </a:ext>
              </a:extLst>
            </p:cNvPr>
            <p:cNvSpPr/>
            <p:nvPr/>
          </p:nvSpPr>
          <p:spPr>
            <a:xfrm>
              <a:off x="6010067" y="5839186"/>
              <a:ext cx="171866" cy="171866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47521151-4BE7-479F-BE1D-E00326405239}"/>
              </a:ext>
            </a:extLst>
          </p:cNvPr>
          <p:cNvSpPr txBox="1"/>
          <p:nvPr/>
        </p:nvSpPr>
        <p:spPr>
          <a:xfrm>
            <a:off x="3606947" y="1688141"/>
            <a:ext cx="1786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HEADING HERE</a:t>
            </a:r>
            <a:endParaRPr lang="en-IN" sz="1600" b="1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D2CA71-13C5-4B25-9EAC-81E9A6F9F0E5}"/>
              </a:ext>
            </a:extLst>
          </p:cNvPr>
          <p:cNvGrpSpPr/>
          <p:nvPr/>
        </p:nvGrpSpPr>
        <p:grpSpPr>
          <a:xfrm>
            <a:off x="5959592" y="4649595"/>
            <a:ext cx="3016427" cy="1420024"/>
            <a:chOff x="5959592" y="4649595"/>
            <a:chExt cx="3016427" cy="142002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FFD43AE-0120-43FC-A0C8-C28D075A449E}"/>
                </a:ext>
              </a:extLst>
            </p:cNvPr>
            <p:cNvGrpSpPr/>
            <p:nvPr/>
          </p:nvGrpSpPr>
          <p:grpSpPr>
            <a:xfrm>
              <a:off x="5959592" y="4649595"/>
              <a:ext cx="3016427" cy="675272"/>
              <a:chOff x="5931017" y="894070"/>
              <a:chExt cx="3016427" cy="675272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C566E0E-314E-4EC6-A2A9-E97DE6ACEE30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1A5B8BF-1BBF-495D-96B5-4440E1F26532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FCB0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D37EDD0-E65F-4C91-B753-C15E01909DB4}"/>
                </a:ext>
              </a:extLst>
            </p:cNvPr>
            <p:cNvSpPr txBox="1"/>
            <p:nvPr/>
          </p:nvSpPr>
          <p:spPr>
            <a:xfrm>
              <a:off x="6856447" y="4709292"/>
              <a:ext cx="17864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AI Explainability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18BA2EE-595F-4894-9833-1A1341F1A739}"/>
                </a:ext>
              </a:extLst>
            </p:cNvPr>
            <p:cNvSpPr txBox="1"/>
            <p:nvPr/>
          </p:nvSpPr>
          <p:spPr>
            <a:xfrm>
              <a:off x="6770373" y="5130900"/>
              <a:ext cx="195861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This project proposes an AI-based Fake News Detection and Verification Tool to automatically analyze news articles and online content.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40FC288-0CED-43F1-8036-498C2B5AD154}"/>
              </a:ext>
            </a:extLst>
          </p:cNvPr>
          <p:cNvGrpSpPr/>
          <p:nvPr/>
        </p:nvGrpSpPr>
        <p:grpSpPr>
          <a:xfrm>
            <a:off x="3235442" y="5664770"/>
            <a:ext cx="3016427" cy="1229024"/>
            <a:chOff x="3235442" y="5664770"/>
            <a:chExt cx="3016427" cy="1229024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BC76FC2-E6B9-433D-92CF-27A65236C941}"/>
                </a:ext>
              </a:extLst>
            </p:cNvPr>
            <p:cNvGrpSpPr/>
            <p:nvPr/>
          </p:nvGrpSpPr>
          <p:grpSpPr>
            <a:xfrm flipH="1">
              <a:off x="3235442" y="5664770"/>
              <a:ext cx="3016427" cy="675272"/>
              <a:chOff x="5931017" y="894070"/>
              <a:chExt cx="3016427" cy="675272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C6B71C3-D02E-4654-9EC3-0D2E6C1C3081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243C37C-B2BC-4B1E-946E-9D84C5657BB3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F37A816-4214-468D-AEDB-8AAA2FCCCB93}"/>
                </a:ext>
              </a:extLst>
            </p:cNvPr>
            <p:cNvSpPr txBox="1"/>
            <p:nvPr/>
          </p:nvSpPr>
          <p:spPr>
            <a:xfrm>
              <a:off x="3606947" y="5702745"/>
              <a:ext cx="17864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Efficiency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BA9E0AD-109A-483C-B1EB-1195FB1C31AB}"/>
                </a:ext>
              </a:extLst>
            </p:cNvPr>
            <p:cNvSpPr txBox="1"/>
            <p:nvPr/>
          </p:nvSpPr>
          <p:spPr>
            <a:xfrm>
              <a:off x="3520873" y="6124353"/>
              <a:ext cx="19586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Efficient large-scale data processing. This tool can preprocess large scale of data efficiently.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E55A5B-6DFF-4F52-A5F7-8D6C0DE9994C}"/>
              </a:ext>
            </a:extLst>
          </p:cNvPr>
          <p:cNvGrpSpPr/>
          <p:nvPr/>
        </p:nvGrpSpPr>
        <p:grpSpPr>
          <a:xfrm>
            <a:off x="3235442" y="1635266"/>
            <a:ext cx="3016427" cy="1413202"/>
            <a:chOff x="3235442" y="1635266"/>
            <a:chExt cx="3016427" cy="141320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F59AD1B-072A-4FA3-BC15-4E71AD02BC4A}"/>
                </a:ext>
              </a:extLst>
            </p:cNvPr>
            <p:cNvGrpSpPr/>
            <p:nvPr/>
          </p:nvGrpSpPr>
          <p:grpSpPr>
            <a:xfrm flipH="1">
              <a:off x="3235442" y="1635266"/>
              <a:ext cx="3016427" cy="675272"/>
              <a:chOff x="5931017" y="894070"/>
              <a:chExt cx="3016427" cy="675272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F8FFEC0-C6C8-41DF-AE46-0F855E575E91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7CC0F03-3DC7-4AE7-9920-C2B832F00482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909C1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D94911E-3AD9-46AD-96DE-74F0D77DEDFF}"/>
                </a:ext>
              </a:extLst>
            </p:cNvPr>
            <p:cNvSpPr txBox="1"/>
            <p:nvPr/>
          </p:nvSpPr>
          <p:spPr>
            <a:xfrm>
              <a:off x="3520873" y="2109749"/>
              <a:ext cx="195861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There is a strong need for an automated system that can quickly analyze and verify large volumes of digital news content.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5B16F9-EEAD-4B12-9205-C8D9C2A5F0A6}"/>
              </a:ext>
            </a:extLst>
          </p:cNvPr>
          <p:cNvGrpSpPr/>
          <p:nvPr/>
        </p:nvGrpSpPr>
        <p:grpSpPr>
          <a:xfrm>
            <a:off x="5959592" y="2624654"/>
            <a:ext cx="3016427" cy="1049909"/>
            <a:chOff x="5959592" y="2624654"/>
            <a:chExt cx="3016427" cy="104990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D5A8FEA-AA9D-4F70-8456-61B69933875E}"/>
                </a:ext>
              </a:extLst>
            </p:cNvPr>
            <p:cNvGrpSpPr/>
            <p:nvPr/>
          </p:nvGrpSpPr>
          <p:grpSpPr>
            <a:xfrm>
              <a:off x="5959592" y="2624654"/>
              <a:ext cx="3016427" cy="675272"/>
              <a:chOff x="5931017" y="894070"/>
              <a:chExt cx="3016427" cy="675272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CA3F383-1AC0-4565-B72D-B9E5054B0130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83593E6-4DBD-449B-83B1-BBC9C92B5D4E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E24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953B4CD-0D27-4D61-A8F4-AE6D5457BB04}"/>
                </a:ext>
              </a:extLst>
            </p:cNvPr>
            <p:cNvSpPr txBox="1"/>
            <p:nvPr/>
          </p:nvSpPr>
          <p:spPr>
            <a:xfrm>
              <a:off x="6856447" y="2652791"/>
              <a:ext cx="17864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Multilingual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4E07B04-3C07-41FB-98C0-16639548BE41}"/>
                </a:ext>
              </a:extLst>
            </p:cNvPr>
            <p:cNvSpPr txBox="1"/>
            <p:nvPr/>
          </p:nvSpPr>
          <p:spPr>
            <a:xfrm>
              <a:off x="6770373" y="3074399"/>
              <a:ext cx="19586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Multilingual misinformation. This tool will support multiple languages for verification.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31985D9-804C-423C-A246-DBC2412425C2}"/>
              </a:ext>
            </a:extLst>
          </p:cNvPr>
          <p:cNvGrpSpPr/>
          <p:nvPr/>
        </p:nvGrpSpPr>
        <p:grpSpPr>
          <a:xfrm>
            <a:off x="5959592" y="620091"/>
            <a:ext cx="3016427" cy="1240171"/>
            <a:chOff x="5959592" y="620091"/>
            <a:chExt cx="3016427" cy="124017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F0379-D1AB-490C-BD8B-9D0A8BCFF62C}"/>
                </a:ext>
              </a:extLst>
            </p:cNvPr>
            <p:cNvGrpSpPr/>
            <p:nvPr/>
          </p:nvGrpSpPr>
          <p:grpSpPr>
            <a:xfrm>
              <a:off x="5959592" y="620091"/>
              <a:ext cx="3016427" cy="675272"/>
              <a:chOff x="5931017" y="894070"/>
              <a:chExt cx="3016427" cy="675272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23BDA89-CEA8-4D10-944F-709202ED335A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F6FD6A1-B862-49DE-A73D-CBED160B751C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017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5858574-181D-4FD3-A6B2-F20517EB26DD}"/>
                </a:ext>
              </a:extLst>
            </p:cNvPr>
            <p:cNvSpPr txBox="1"/>
            <p:nvPr/>
          </p:nvSpPr>
          <p:spPr>
            <a:xfrm>
              <a:off x="6856447" y="669213"/>
              <a:ext cx="1786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Accuracy</a:t>
              </a:r>
              <a:endParaRPr lang="en-IN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5B0DC05-2175-48F9-B57B-32C96D897DA2}"/>
                </a:ext>
              </a:extLst>
            </p:cNvPr>
            <p:cNvSpPr txBox="1"/>
            <p:nvPr/>
          </p:nvSpPr>
          <p:spPr>
            <a:xfrm>
              <a:off x="6770373" y="1090821"/>
              <a:ext cx="19586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High accuracy with complex language. The tool classifies news content as Reliable, Suspicious, or Fake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5AD0DD0-1C04-455F-8E8C-4353F500D013}"/>
              </a:ext>
            </a:extLst>
          </p:cNvPr>
          <p:cNvGrpSpPr/>
          <p:nvPr/>
        </p:nvGrpSpPr>
        <p:grpSpPr>
          <a:xfrm>
            <a:off x="3201305" y="3639829"/>
            <a:ext cx="3050564" cy="1394422"/>
            <a:chOff x="3201305" y="3639829"/>
            <a:chExt cx="3050564" cy="139442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FA71216-431C-4B82-AE7A-C2089C490DCE}"/>
                </a:ext>
              </a:extLst>
            </p:cNvPr>
            <p:cNvGrpSpPr/>
            <p:nvPr/>
          </p:nvGrpSpPr>
          <p:grpSpPr>
            <a:xfrm flipH="1">
              <a:off x="3235442" y="3639829"/>
              <a:ext cx="3016427" cy="675272"/>
              <a:chOff x="5931017" y="894070"/>
              <a:chExt cx="3016427" cy="675272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18AE7A6-7187-4E66-9C6A-DBE0CAA94EBC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634DA7B-126F-4E68-962D-021BE75BAB21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E610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D5C29C1-0D94-4755-A6D6-914FE19CDC84}"/>
                </a:ext>
              </a:extLst>
            </p:cNvPr>
            <p:cNvSpPr txBox="1"/>
            <p:nvPr/>
          </p:nvSpPr>
          <p:spPr>
            <a:xfrm>
              <a:off x="3201305" y="3672226"/>
              <a:ext cx="26035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USE OF NLP AND GEMINI AI </a:t>
              </a:r>
              <a:endParaRPr lang="en-IN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6E009FE-2E24-49C0-AED0-A4B55055C5CB}"/>
                </a:ext>
              </a:extLst>
            </p:cNvPr>
            <p:cNvSpPr txBox="1"/>
            <p:nvPr/>
          </p:nvSpPr>
          <p:spPr>
            <a:xfrm>
              <a:off x="3520873" y="4095532"/>
              <a:ext cx="195861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The system uses advanced Natural Language Processing (NLP) techniques along with Google Gemini AI for intelligent analysis.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01820300-957B-4EAC-950D-083E03A1AA1E}"/>
              </a:ext>
            </a:extLst>
          </p:cNvPr>
          <p:cNvSpPr txBox="1"/>
          <p:nvPr/>
        </p:nvSpPr>
        <p:spPr>
          <a:xfrm>
            <a:off x="366276" y="171631"/>
            <a:ext cx="3240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Project Statement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B98D2-2F8B-C6C2-8C5B-D3CFFF814CEF}"/>
              </a:ext>
            </a:extLst>
          </p:cNvPr>
          <p:cNvSpPr txBox="1"/>
          <p:nvPr/>
        </p:nvSpPr>
        <p:spPr>
          <a:xfrm>
            <a:off x="3230233" y="1717299"/>
            <a:ext cx="3289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chemeClr val="bg1"/>
                </a:solidFill>
                <a:effectLst/>
              </a:rPr>
              <a:t>NEED FOR AN AUTOMATED SOLUTION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60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F366F0-A5E9-4EDE-B1CB-F7115DED7207}"/>
              </a:ext>
            </a:extLst>
          </p:cNvPr>
          <p:cNvCxnSpPr/>
          <p:nvPr/>
        </p:nvCxnSpPr>
        <p:spPr>
          <a:xfrm flipV="1">
            <a:off x="3352800" y="1146383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9F1C6A5-2A6B-4AF7-9A72-D13F3EA231C1}"/>
              </a:ext>
            </a:extLst>
          </p:cNvPr>
          <p:cNvCxnSpPr>
            <a:cxnSpLocks/>
          </p:cNvCxnSpPr>
          <p:nvPr/>
        </p:nvCxnSpPr>
        <p:spPr>
          <a:xfrm rot="1500000" flipV="1">
            <a:off x="3794655" y="1500739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95B9AF-86E0-47B9-BFC0-B30BF700F13D}"/>
              </a:ext>
            </a:extLst>
          </p:cNvPr>
          <p:cNvCxnSpPr>
            <a:cxnSpLocks/>
          </p:cNvCxnSpPr>
          <p:nvPr/>
        </p:nvCxnSpPr>
        <p:spPr>
          <a:xfrm rot="3000000" flipV="1">
            <a:off x="4079905" y="1986459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4FCD74-D5FF-4633-96B8-977E2FD79C0C}"/>
              </a:ext>
            </a:extLst>
          </p:cNvPr>
          <p:cNvCxnSpPr>
            <a:cxnSpLocks/>
          </p:cNvCxnSpPr>
          <p:nvPr/>
        </p:nvCxnSpPr>
        <p:spPr>
          <a:xfrm rot="4500000" flipV="1">
            <a:off x="4008967" y="2563107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AB8166C-8AB1-446E-9535-B7BE4A21D392}"/>
              </a:ext>
            </a:extLst>
          </p:cNvPr>
          <p:cNvCxnSpPr>
            <a:cxnSpLocks/>
          </p:cNvCxnSpPr>
          <p:nvPr/>
        </p:nvCxnSpPr>
        <p:spPr>
          <a:xfrm rot="6000000" flipV="1">
            <a:off x="3762059" y="3064503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1271C1-66B9-4E71-B75B-7E551BF724C9}"/>
              </a:ext>
            </a:extLst>
          </p:cNvPr>
          <p:cNvCxnSpPr>
            <a:cxnSpLocks/>
          </p:cNvCxnSpPr>
          <p:nvPr/>
        </p:nvCxnSpPr>
        <p:spPr>
          <a:xfrm rot="7500000" flipV="1">
            <a:off x="3361802" y="3438835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761C896-8C21-4ED1-BB97-9CE7B8F7807A}"/>
              </a:ext>
            </a:extLst>
          </p:cNvPr>
          <p:cNvSpPr/>
          <p:nvPr/>
        </p:nvSpPr>
        <p:spPr>
          <a:xfrm>
            <a:off x="1734355" y="1810555"/>
            <a:ext cx="3236890" cy="3236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rtial Circle 36">
            <a:extLst>
              <a:ext uri="{FF2B5EF4-FFF2-40B4-BE49-F238E27FC236}">
                <a16:creationId xmlns:a16="http://schemas.microsoft.com/office/drawing/2014/main" id="{9CAE3C71-FD49-41D5-B6EA-CBAD23D6965C}"/>
              </a:ext>
            </a:extLst>
          </p:cNvPr>
          <p:cNvSpPr/>
          <p:nvPr/>
        </p:nvSpPr>
        <p:spPr>
          <a:xfrm rot="19555283">
            <a:off x="1744552" y="1813910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BD2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Partial Circle 37">
            <a:extLst>
              <a:ext uri="{FF2B5EF4-FFF2-40B4-BE49-F238E27FC236}">
                <a16:creationId xmlns:a16="http://schemas.microsoft.com/office/drawing/2014/main" id="{E295E4FA-BAC9-4F12-A985-C42949E2D293}"/>
              </a:ext>
            </a:extLst>
          </p:cNvPr>
          <p:cNvSpPr/>
          <p:nvPr/>
        </p:nvSpPr>
        <p:spPr>
          <a:xfrm rot="18043804">
            <a:off x="1744552" y="1813908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E7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Partial Circle 38">
            <a:extLst>
              <a:ext uri="{FF2B5EF4-FFF2-40B4-BE49-F238E27FC236}">
                <a16:creationId xmlns:a16="http://schemas.microsoft.com/office/drawing/2014/main" id="{37303FED-7F4E-4FF8-A128-0E9253D9BD70}"/>
              </a:ext>
            </a:extLst>
          </p:cNvPr>
          <p:cNvSpPr/>
          <p:nvPr/>
        </p:nvSpPr>
        <p:spPr>
          <a:xfrm rot="16545779">
            <a:off x="1742582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FE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Partial Circle 39">
            <a:extLst>
              <a:ext uri="{FF2B5EF4-FFF2-40B4-BE49-F238E27FC236}">
                <a16:creationId xmlns:a16="http://schemas.microsoft.com/office/drawing/2014/main" id="{42CEEFF0-FB42-4455-9D72-95B33BE199ED}"/>
              </a:ext>
            </a:extLst>
          </p:cNvPr>
          <p:cNvSpPr/>
          <p:nvPr/>
        </p:nvSpPr>
        <p:spPr>
          <a:xfrm rot="21045553">
            <a:off x="1744553" y="1813914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593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Partial Circle 40">
            <a:extLst>
              <a:ext uri="{FF2B5EF4-FFF2-40B4-BE49-F238E27FC236}">
                <a16:creationId xmlns:a16="http://schemas.microsoft.com/office/drawing/2014/main" id="{B3F14FA2-C024-46F5-9D40-8746FB62EA3E}"/>
              </a:ext>
            </a:extLst>
          </p:cNvPr>
          <p:cNvSpPr/>
          <p:nvPr/>
        </p:nvSpPr>
        <p:spPr>
          <a:xfrm rot="984140">
            <a:off x="1744555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00A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Partial Circle 41">
            <a:extLst>
              <a:ext uri="{FF2B5EF4-FFF2-40B4-BE49-F238E27FC236}">
                <a16:creationId xmlns:a16="http://schemas.microsoft.com/office/drawing/2014/main" id="{B05F4231-267C-4E8C-A052-DF77E9934B37}"/>
              </a:ext>
            </a:extLst>
          </p:cNvPr>
          <p:cNvSpPr/>
          <p:nvPr/>
        </p:nvSpPr>
        <p:spPr>
          <a:xfrm rot="2487498">
            <a:off x="1750411" y="181101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74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C25BC93-0BD9-4D91-B885-6FAEF5AC44B5}"/>
              </a:ext>
            </a:extLst>
          </p:cNvPr>
          <p:cNvSpPr/>
          <p:nvPr/>
        </p:nvSpPr>
        <p:spPr>
          <a:xfrm>
            <a:off x="2349500" y="2425700"/>
            <a:ext cx="2006600" cy="20066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5546733-B29D-4688-A34F-49A40200489B}"/>
              </a:ext>
            </a:extLst>
          </p:cNvPr>
          <p:cNvSpPr/>
          <p:nvPr/>
        </p:nvSpPr>
        <p:spPr>
          <a:xfrm>
            <a:off x="2578100" y="2654300"/>
            <a:ext cx="1549400" cy="154940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A3A2AF-9A67-471F-8C92-3A7E9F9A5608}"/>
              </a:ext>
            </a:extLst>
          </p:cNvPr>
          <p:cNvSpPr txBox="1"/>
          <p:nvPr/>
        </p:nvSpPr>
        <p:spPr>
          <a:xfrm>
            <a:off x="2471753" y="3105545"/>
            <a:ext cx="1842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SYSTEM OUTCOMES</a:t>
            </a:r>
            <a:endParaRPr lang="en-US" sz="2000" spc="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101600" dist="63500" dir="2700000" algn="tl" rotWithShape="0">
                  <a:prstClr val="black">
                    <a:alpha val="41000"/>
                  </a:prstClr>
                </a:outerShdw>
              </a:effectLst>
              <a:latin typeface="Bebas Neue Bold" panose="020B0606020202050201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70A81C-A1D8-4831-A8D7-B4C2845337B1}"/>
              </a:ext>
            </a:extLst>
          </p:cNvPr>
          <p:cNvGrpSpPr/>
          <p:nvPr/>
        </p:nvGrpSpPr>
        <p:grpSpPr>
          <a:xfrm>
            <a:off x="4626067" y="453720"/>
            <a:ext cx="2872094" cy="830997"/>
            <a:chOff x="4626067" y="453720"/>
            <a:chExt cx="2872094" cy="830997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6F9C562-F044-4D2C-8442-795242DE5529}"/>
                </a:ext>
              </a:extLst>
            </p:cNvPr>
            <p:cNvSpPr/>
            <p:nvPr/>
          </p:nvSpPr>
          <p:spPr>
            <a:xfrm>
              <a:off x="4626067" y="467036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ED41C"/>
                </a:gs>
                <a:gs pos="97000">
                  <a:srgbClr val="DE9F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AD646A2-136F-4859-9097-5F282A5C4117}"/>
                </a:ext>
              </a:extLst>
            </p:cNvPr>
            <p:cNvSpPr/>
            <p:nvPr/>
          </p:nvSpPr>
          <p:spPr>
            <a:xfrm>
              <a:off x="4678431" y="514283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67FB0C9-3128-4E36-8282-B7D855615DC8}"/>
                </a:ext>
              </a:extLst>
            </p:cNvPr>
            <p:cNvSpPr txBox="1"/>
            <p:nvPr/>
          </p:nvSpPr>
          <p:spPr>
            <a:xfrm>
              <a:off x="4803306" y="621360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A033045-85FB-43F5-8F84-49327A5304EA}"/>
                </a:ext>
              </a:extLst>
            </p:cNvPr>
            <p:cNvSpPr txBox="1"/>
            <p:nvPr/>
          </p:nvSpPr>
          <p:spPr>
            <a:xfrm>
              <a:off x="5387489" y="453720"/>
              <a:ext cx="19499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Accurate Identification</a:t>
              </a:r>
              <a:endParaRPr lang="en-US" sz="1200" dirty="0">
                <a:solidFill>
                  <a:schemeClr val="bg1"/>
                </a:solidFill>
              </a:endParaRPr>
            </a:p>
            <a:p>
              <a:r>
                <a:rPr lang="en-US" sz="1200" b="1" dirty="0">
                  <a:solidFill>
                    <a:schemeClr val="bg1"/>
                  </a:solidFill>
                </a:rPr>
                <a:t>Precise classification of fake and real news using ML and NLP.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3BBEF79-8159-47EB-B862-A37054C4C3A3}"/>
              </a:ext>
            </a:extLst>
          </p:cNvPr>
          <p:cNvGrpSpPr/>
          <p:nvPr/>
        </p:nvGrpSpPr>
        <p:grpSpPr>
          <a:xfrm>
            <a:off x="4626067" y="5702303"/>
            <a:ext cx="2872094" cy="830997"/>
            <a:chOff x="4626067" y="5702303"/>
            <a:chExt cx="2872094" cy="830997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0399633-F1D0-4FA4-BEC8-8A09A2347B65}"/>
                </a:ext>
              </a:extLst>
            </p:cNvPr>
            <p:cNvSpPr/>
            <p:nvPr/>
          </p:nvSpPr>
          <p:spPr>
            <a:xfrm>
              <a:off x="4626067" y="5712983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3D600"/>
                </a:gs>
                <a:gs pos="97000">
                  <a:srgbClr val="74B9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442F2E3-7F53-4719-AABA-16BD2C242073}"/>
                </a:ext>
              </a:extLst>
            </p:cNvPr>
            <p:cNvSpPr/>
            <p:nvPr/>
          </p:nvSpPr>
          <p:spPr>
            <a:xfrm>
              <a:off x="4678431" y="5760230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331339B-7EC2-4EF0-9E44-65DD14E546FE}"/>
                </a:ext>
              </a:extLst>
            </p:cNvPr>
            <p:cNvSpPr txBox="1"/>
            <p:nvPr/>
          </p:nvSpPr>
          <p:spPr>
            <a:xfrm>
              <a:off x="4803306" y="5855752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6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F997E43-B3A2-4503-9C84-A8ACC224A177}"/>
                </a:ext>
              </a:extLst>
            </p:cNvPr>
            <p:cNvSpPr txBox="1"/>
            <p:nvPr/>
          </p:nvSpPr>
          <p:spPr>
            <a:xfrm>
              <a:off x="5387489" y="5702303"/>
              <a:ext cx="20815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SUPPORT ON ROLE BASIS</a:t>
              </a:r>
              <a:endParaRPr lang="en-US" sz="1200" dirty="0">
                <a:solidFill>
                  <a:schemeClr val="bg1"/>
                </a:solidFill>
              </a:endParaRPr>
            </a:p>
            <a:p>
              <a:r>
                <a:rPr lang="en-US" sz="1200" b="1" dirty="0">
                  <a:solidFill>
                    <a:schemeClr val="bg1"/>
                  </a:solidFill>
                </a:rPr>
                <a:t>Supports role-based access with separate user and admin functionalities 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F276933-997C-4EED-8808-74030997E8B6}"/>
              </a:ext>
            </a:extLst>
          </p:cNvPr>
          <p:cNvGrpSpPr/>
          <p:nvPr/>
        </p:nvGrpSpPr>
        <p:grpSpPr>
          <a:xfrm>
            <a:off x="5454953" y="1516225"/>
            <a:ext cx="3128608" cy="780295"/>
            <a:chOff x="5454953" y="1516225"/>
            <a:chExt cx="3128608" cy="78029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AAD1D8CE-23CA-4164-8BCF-1775C2CD4953}"/>
                </a:ext>
              </a:extLst>
            </p:cNvPr>
            <p:cNvSpPr/>
            <p:nvPr/>
          </p:nvSpPr>
          <p:spPr>
            <a:xfrm>
              <a:off x="5454953" y="1516225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851A"/>
                </a:gs>
                <a:gs pos="97000">
                  <a:srgbClr val="E700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84B8AFC-EEA7-42C3-8AAD-057B4DE359AA}"/>
                </a:ext>
              </a:extLst>
            </p:cNvPr>
            <p:cNvSpPr/>
            <p:nvPr/>
          </p:nvSpPr>
          <p:spPr>
            <a:xfrm>
              <a:off x="5516719" y="1563472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F381830-6816-42CF-B9F1-848EE29C6252}"/>
                </a:ext>
              </a:extLst>
            </p:cNvPr>
            <p:cNvSpPr txBox="1"/>
            <p:nvPr/>
          </p:nvSpPr>
          <p:spPr>
            <a:xfrm>
              <a:off x="5664743" y="1686643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2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9C39B54-5068-4E9F-A0A2-E2D6B9FDB0D4}"/>
                </a:ext>
              </a:extLst>
            </p:cNvPr>
            <p:cNvSpPr txBox="1"/>
            <p:nvPr/>
          </p:nvSpPr>
          <p:spPr>
            <a:xfrm>
              <a:off x="6231348" y="1569573"/>
              <a:ext cx="23522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Improved Performance</a:t>
              </a:r>
              <a:endParaRPr lang="en-US" sz="1200" dirty="0">
                <a:solidFill>
                  <a:schemeClr val="bg1"/>
                </a:solidFill>
              </a:endParaRPr>
            </a:p>
            <a:p>
              <a:r>
                <a:rPr lang="en-US" sz="1200" b="1" dirty="0">
                  <a:solidFill>
                    <a:schemeClr val="bg1"/>
                  </a:solidFill>
                </a:rPr>
                <a:t>High accuracy, precision, recall, and F1-score in classification.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5B0AA49-59B1-4F13-AF28-0AB65F6762CE}"/>
              </a:ext>
            </a:extLst>
          </p:cNvPr>
          <p:cNvGrpSpPr/>
          <p:nvPr/>
        </p:nvGrpSpPr>
        <p:grpSpPr>
          <a:xfrm>
            <a:off x="5454953" y="4650900"/>
            <a:ext cx="2920180" cy="830997"/>
            <a:chOff x="5454953" y="4650900"/>
            <a:chExt cx="2920180" cy="830997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EB31C13-FE45-402C-8A4F-B67597F78EE4}"/>
                </a:ext>
              </a:extLst>
            </p:cNvPr>
            <p:cNvSpPr/>
            <p:nvPr/>
          </p:nvSpPr>
          <p:spPr>
            <a:xfrm>
              <a:off x="5454953" y="4663792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A7DF"/>
                </a:gs>
                <a:gs pos="97000">
                  <a:srgbClr val="00A0B1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49B34C4-FCD2-47E6-9B5C-D6BDDE3215CA}"/>
                </a:ext>
              </a:extLst>
            </p:cNvPr>
            <p:cNvSpPr/>
            <p:nvPr/>
          </p:nvSpPr>
          <p:spPr>
            <a:xfrm>
              <a:off x="5516719" y="4723499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998EBBC-DC0C-4DDB-9F1A-27A1323BA208}"/>
                </a:ext>
              </a:extLst>
            </p:cNvPr>
            <p:cNvSpPr txBox="1"/>
            <p:nvPr/>
          </p:nvSpPr>
          <p:spPr>
            <a:xfrm>
              <a:off x="5660492" y="4846388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067ACB2-BC5E-4869-BF6B-5D2D04C206BD}"/>
                </a:ext>
              </a:extLst>
            </p:cNvPr>
            <p:cNvSpPr txBox="1"/>
            <p:nvPr/>
          </p:nvSpPr>
          <p:spPr>
            <a:xfrm>
              <a:off x="6202519" y="4650900"/>
              <a:ext cx="21726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Reduced Misinformation</a:t>
              </a:r>
              <a:endParaRPr lang="en-US" sz="1200" dirty="0">
                <a:solidFill>
                  <a:schemeClr val="bg1"/>
                </a:solidFill>
              </a:endParaRPr>
            </a:p>
            <a:p>
              <a:r>
                <a:rPr lang="en-US" sz="1200" b="1" dirty="0">
                  <a:solidFill>
                    <a:schemeClr val="bg1"/>
                  </a:solidFill>
                </a:rPr>
                <a:t>Reliable verification outcomes to curb the spread of fake news.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6F3AB33-8833-4300-AD00-1D290EE1E279}"/>
              </a:ext>
            </a:extLst>
          </p:cNvPr>
          <p:cNvGrpSpPr/>
          <p:nvPr/>
        </p:nvGrpSpPr>
        <p:grpSpPr>
          <a:xfrm>
            <a:off x="5987822" y="2540063"/>
            <a:ext cx="2977848" cy="830997"/>
            <a:chOff x="5987822" y="2540063"/>
            <a:chExt cx="2977848" cy="830997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C5E14AE-6928-48A8-839E-EBCE00E18D23}"/>
                </a:ext>
              </a:extLst>
            </p:cNvPr>
            <p:cNvSpPr/>
            <p:nvPr/>
          </p:nvSpPr>
          <p:spPr>
            <a:xfrm>
              <a:off x="5987822" y="2565414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85AA2"/>
                </a:gs>
                <a:gs pos="97000">
                  <a:srgbClr val="BD2583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4FDBFDD-8340-4786-B5F5-3F23629DFC08}"/>
                </a:ext>
              </a:extLst>
            </p:cNvPr>
            <p:cNvSpPr/>
            <p:nvPr/>
          </p:nvSpPr>
          <p:spPr>
            <a:xfrm>
              <a:off x="6049677" y="2612661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65916CE-AB2A-4543-AD58-8238CE7DFEFF}"/>
                </a:ext>
              </a:extLst>
            </p:cNvPr>
            <p:cNvSpPr txBox="1"/>
            <p:nvPr/>
          </p:nvSpPr>
          <p:spPr>
            <a:xfrm>
              <a:off x="6185400" y="2693951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3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E86320E-852A-48E5-90E8-A9F0AD32F733}"/>
                </a:ext>
              </a:extLst>
            </p:cNvPr>
            <p:cNvSpPr txBox="1"/>
            <p:nvPr/>
          </p:nvSpPr>
          <p:spPr>
            <a:xfrm>
              <a:off x="6699727" y="2540063"/>
              <a:ext cx="22659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Real-time Verification</a:t>
              </a:r>
              <a:endParaRPr lang="en-US" sz="1200" dirty="0">
                <a:solidFill>
                  <a:schemeClr val="bg1"/>
                </a:solidFill>
              </a:endParaRPr>
            </a:p>
            <a:p>
              <a:r>
                <a:rPr lang="en-US" sz="1200" b="1" dirty="0">
                  <a:solidFill>
                    <a:schemeClr val="bg1"/>
                  </a:solidFill>
                </a:rPr>
                <a:t>Instant detection and verification of news from multiple sources.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3CD8BF9-A34A-4C7C-8129-A87CF26C6D30}"/>
              </a:ext>
            </a:extLst>
          </p:cNvPr>
          <p:cNvGrpSpPr/>
          <p:nvPr/>
        </p:nvGrpSpPr>
        <p:grpSpPr>
          <a:xfrm>
            <a:off x="5987822" y="3589252"/>
            <a:ext cx="2872094" cy="830997"/>
            <a:chOff x="5987822" y="3589252"/>
            <a:chExt cx="2872094" cy="830997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49A8B012-1545-4436-8528-FBBF0EE522E0}"/>
                </a:ext>
              </a:extLst>
            </p:cNvPr>
            <p:cNvSpPr/>
            <p:nvPr/>
          </p:nvSpPr>
          <p:spPr>
            <a:xfrm>
              <a:off x="5987822" y="3614603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7B5BA6"/>
                </a:gs>
                <a:gs pos="97000">
                  <a:srgbClr val="593F92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D79CBBB-135D-40C7-90C7-9E2A0EB63DA1}"/>
                </a:ext>
              </a:extLst>
            </p:cNvPr>
            <p:cNvSpPr/>
            <p:nvPr/>
          </p:nvSpPr>
          <p:spPr>
            <a:xfrm>
              <a:off x="6049677" y="3661850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C8FE8E-1548-41A5-9544-4944BD64E63A}"/>
                </a:ext>
              </a:extLst>
            </p:cNvPr>
            <p:cNvSpPr txBox="1"/>
            <p:nvPr/>
          </p:nvSpPr>
          <p:spPr>
            <a:xfrm>
              <a:off x="6188385" y="3738355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4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BE4984A-6478-48B1-AA4D-6FFDD65F7041}"/>
                </a:ext>
              </a:extLst>
            </p:cNvPr>
            <p:cNvSpPr txBox="1"/>
            <p:nvPr/>
          </p:nvSpPr>
          <p:spPr>
            <a:xfrm>
              <a:off x="6719707" y="3589252"/>
              <a:ext cx="16842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User-Friendly Interface</a:t>
              </a:r>
              <a:endParaRPr lang="en-US" sz="1200" dirty="0">
                <a:solidFill>
                  <a:schemeClr val="bg1"/>
                </a:solidFill>
              </a:endParaRPr>
            </a:p>
            <a:p>
              <a:r>
                <a:rPr lang="en-US" sz="1200" b="1" dirty="0">
                  <a:solidFill>
                    <a:schemeClr val="bg1"/>
                  </a:solidFill>
                </a:rPr>
                <a:t>Easy input and visualization of results for all users.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123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5A294B5-FD25-49EF-AECD-E442225A9501}"/>
              </a:ext>
            </a:extLst>
          </p:cNvPr>
          <p:cNvSpPr/>
          <p:nvPr/>
        </p:nvSpPr>
        <p:spPr>
          <a:xfrm>
            <a:off x="4884798" y="2217798"/>
            <a:ext cx="2422405" cy="242240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643250-0EAB-4E29-9F4B-866A59001718}"/>
              </a:ext>
            </a:extLst>
          </p:cNvPr>
          <p:cNvGrpSpPr/>
          <p:nvPr/>
        </p:nvGrpSpPr>
        <p:grpSpPr>
          <a:xfrm>
            <a:off x="4617312" y="741469"/>
            <a:ext cx="1961720" cy="2465203"/>
            <a:chOff x="4617312" y="741469"/>
            <a:chExt cx="1961720" cy="246520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65CDC5-5D45-414D-92A7-A1ADC9F51E30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E0A4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0AEC44A-2431-4753-9D1E-F41494403EE2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F0B1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27CD56-1923-46ED-B30C-49C15D007500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C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3F8F804-AC7B-4334-86D2-A4C26A289F8E}"/>
              </a:ext>
            </a:extLst>
          </p:cNvPr>
          <p:cNvGrpSpPr/>
          <p:nvPr/>
        </p:nvGrpSpPr>
        <p:grpSpPr>
          <a:xfrm rot="2700000">
            <a:off x="5792822" y="825983"/>
            <a:ext cx="1961720" cy="2465203"/>
            <a:chOff x="4617312" y="741469"/>
            <a:chExt cx="1961720" cy="246520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47FFA0E-3843-4D75-A5F3-518068D38F94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668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9B98A40-4948-4E14-BB0D-993E382A6B79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7BA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2DD3B0C-8733-4A92-9D91-3C791316CBB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F7C2BA6-0279-4021-8454-DF94FCE6C31D}"/>
              </a:ext>
            </a:extLst>
          </p:cNvPr>
          <p:cNvGrpSpPr/>
          <p:nvPr/>
        </p:nvGrpSpPr>
        <p:grpSpPr>
          <a:xfrm rot="5400000">
            <a:off x="6563954" y="1702137"/>
            <a:ext cx="1961720" cy="2465203"/>
            <a:chOff x="4617312" y="741469"/>
            <a:chExt cx="1961720" cy="2465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AFAC166-DDE8-4C2A-908C-B2DC17A5F9E2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107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FD28662-04E3-4569-AE90-1A8AEBDF105F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1395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6D040A-E205-4B3D-B6A0-C69A5C8EFF7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7B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FAC994-9C2F-4BBD-BDB4-D3BFC038080D}"/>
              </a:ext>
            </a:extLst>
          </p:cNvPr>
          <p:cNvGrpSpPr/>
          <p:nvPr/>
        </p:nvGrpSpPr>
        <p:grpSpPr>
          <a:xfrm rot="8100000">
            <a:off x="6484593" y="2873863"/>
            <a:ext cx="1961720" cy="2465203"/>
            <a:chOff x="4617312" y="741469"/>
            <a:chExt cx="1961720" cy="246520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01EF99-0509-4BE1-AA02-6EADBC4A79DC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238A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5EB83F-7039-4D40-8468-24FCBCABEDCE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29A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2419346-8205-4709-B8DE-C677188A0ECE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C1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066F53-8B70-41AD-AEA5-91AF4F438B6F}"/>
              </a:ext>
            </a:extLst>
          </p:cNvPr>
          <p:cNvGrpSpPr/>
          <p:nvPr/>
        </p:nvGrpSpPr>
        <p:grpSpPr>
          <a:xfrm rot="10800000">
            <a:off x="5602293" y="3640760"/>
            <a:ext cx="1961720" cy="2465203"/>
            <a:chOff x="4617312" y="741469"/>
            <a:chExt cx="1961720" cy="246520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662B77-C6AC-4ED9-92F8-CBE4C6C62F96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1542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96EC62-6359-4975-A98C-00101DBD446E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194E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7BAD86-4DE4-4D30-AED7-1725E45661A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76B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2CA8E1-AD74-49DF-8C2E-2818995D4B99}"/>
              </a:ext>
            </a:extLst>
          </p:cNvPr>
          <p:cNvGrpSpPr/>
          <p:nvPr/>
        </p:nvGrpSpPr>
        <p:grpSpPr>
          <a:xfrm rot="13500000">
            <a:off x="4437203" y="3560871"/>
            <a:ext cx="1961720" cy="2465203"/>
            <a:chOff x="4617312" y="741469"/>
            <a:chExt cx="1961720" cy="246520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ECED554-55B7-4432-A00F-AE5197AE716C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5A2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527F66-717B-4716-9909-A8491B048D2C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7338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AB4054D-4602-4FB6-8C78-06E89969BD8D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648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53AEFF-6967-41DC-898E-208A2D492744}"/>
              </a:ext>
            </a:extLst>
          </p:cNvPr>
          <p:cNvGrpSpPr/>
          <p:nvPr/>
        </p:nvGrpSpPr>
        <p:grpSpPr>
          <a:xfrm rot="16200000">
            <a:off x="3676183" y="2678769"/>
            <a:ext cx="1961720" cy="2465203"/>
            <a:chOff x="4617312" y="741469"/>
            <a:chExt cx="1961720" cy="246520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1623538-A1FD-44A5-9578-695994F9364A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CA1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72000D3-2880-460C-A40E-C37C077DADD6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E23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E9CA8EF-0519-4124-A6B1-6C5D1C67BCD5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55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014A551-DC9F-408F-9BC4-2000AD8D9D37}"/>
              </a:ext>
            </a:extLst>
          </p:cNvPr>
          <p:cNvGrpSpPr/>
          <p:nvPr/>
        </p:nvGrpSpPr>
        <p:grpSpPr>
          <a:xfrm rot="18900000">
            <a:off x="3753720" y="1514859"/>
            <a:ext cx="1961720" cy="2465203"/>
            <a:chOff x="4617312" y="741469"/>
            <a:chExt cx="1961720" cy="246520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00EE06-86FD-45F0-9AAD-165E5ED13B4F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CE63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4E002D1-16FD-42BA-8D5D-367071876D00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EF7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663B98-55D0-4FF1-B5E1-87E26FE6F8E5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8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636A57B8-C3BA-46C7-A071-B9627CB3BDBF}"/>
              </a:ext>
            </a:extLst>
          </p:cNvPr>
          <p:cNvSpPr/>
          <p:nvPr/>
        </p:nvSpPr>
        <p:spPr>
          <a:xfrm>
            <a:off x="5190409" y="838644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3C3C7D-EED4-4D14-B960-8B2B66AD3F48}"/>
              </a:ext>
            </a:extLst>
          </p:cNvPr>
          <p:cNvSpPr/>
          <p:nvPr/>
        </p:nvSpPr>
        <p:spPr>
          <a:xfrm>
            <a:off x="6813096" y="1168497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3A133E8-62B4-4C2F-BD41-4CECE5AD11C6}"/>
              </a:ext>
            </a:extLst>
          </p:cNvPr>
          <p:cNvSpPr/>
          <p:nvPr/>
        </p:nvSpPr>
        <p:spPr>
          <a:xfrm>
            <a:off x="7724706" y="2524629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AE84E20-C4E8-4A54-B149-67E7F7049EAB}"/>
              </a:ext>
            </a:extLst>
          </p:cNvPr>
          <p:cNvSpPr/>
          <p:nvPr/>
        </p:nvSpPr>
        <p:spPr>
          <a:xfrm>
            <a:off x="7401544" y="4137408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7BD6E7F-EDC2-40D2-A1B8-BF3502AF5097}"/>
              </a:ext>
            </a:extLst>
          </p:cNvPr>
          <p:cNvSpPr/>
          <p:nvPr/>
        </p:nvSpPr>
        <p:spPr>
          <a:xfrm>
            <a:off x="6030153" y="5053021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EC44FD9-6923-4838-8778-11DF1B410965}"/>
              </a:ext>
            </a:extLst>
          </p:cNvPr>
          <p:cNvSpPr/>
          <p:nvPr/>
        </p:nvSpPr>
        <p:spPr>
          <a:xfrm>
            <a:off x="4422391" y="4732031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814E57C-B05B-4A88-A130-C2974C931450}"/>
              </a:ext>
            </a:extLst>
          </p:cNvPr>
          <p:cNvSpPr/>
          <p:nvPr/>
        </p:nvSpPr>
        <p:spPr>
          <a:xfrm>
            <a:off x="3521954" y="3359864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777940-C6D6-44C6-98D3-610B5DB425B1}"/>
              </a:ext>
            </a:extLst>
          </p:cNvPr>
          <p:cNvSpPr/>
          <p:nvPr/>
        </p:nvSpPr>
        <p:spPr>
          <a:xfrm>
            <a:off x="3842546" y="1754179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783E15-AA2A-484B-959A-63602F52DA26}"/>
              </a:ext>
            </a:extLst>
          </p:cNvPr>
          <p:cNvSpPr/>
          <p:nvPr/>
        </p:nvSpPr>
        <p:spPr>
          <a:xfrm>
            <a:off x="5330067" y="2663067"/>
            <a:ext cx="1531867" cy="15318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807A92-90FB-4AEC-A9B9-6CE58C08E649}"/>
              </a:ext>
            </a:extLst>
          </p:cNvPr>
          <p:cNvSpPr txBox="1"/>
          <p:nvPr/>
        </p:nvSpPr>
        <p:spPr>
          <a:xfrm>
            <a:off x="5062895" y="1035489"/>
            <a:ext cx="1188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C4BE76-05E7-440A-B9D9-0D2A346CDF22}"/>
              </a:ext>
            </a:extLst>
          </p:cNvPr>
          <p:cNvSpPr txBox="1"/>
          <p:nvPr/>
        </p:nvSpPr>
        <p:spPr>
          <a:xfrm>
            <a:off x="5011760" y="3170557"/>
            <a:ext cx="2176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tillium Web" panose="00000500000000000000" pitchFamily="2" charset="0"/>
              </a:rPr>
              <a:t>MODULES TO BE IMPLEMENTED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4E047C-63F8-48DA-9070-2124D1E29321}"/>
              </a:ext>
            </a:extLst>
          </p:cNvPr>
          <p:cNvSpPr txBox="1"/>
          <p:nvPr/>
        </p:nvSpPr>
        <p:spPr>
          <a:xfrm>
            <a:off x="6708236" y="1375658"/>
            <a:ext cx="1188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E6B8F9-748B-4695-B506-1CD459DE14DA}"/>
              </a:ext>
            </a:extLst>
          </p:cNvPr>
          <p:cNvSpPr txBox="1"/>
          <p:nvPr/>
        </p:nvSpPr>
        <p:spPr>
          <a:xfrm>
            <a:off x="7618403" y="2743957"/>
            <a:ext cx="1188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A7961A-D883-4E52-9262-966A5FC63A8C}"/>
              </a:ext>
            </a:extLst>
          </p:cNvPr>
          <p:cNvSpPr txBox="1"/>
          <p:nvPr/>
        </p:nvSpPr>
        <p:spPr>
          <a:xfrm>
            <a:off x="7288624" y="4356884"/>
            <a:ext cx="1188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71BC15-F0F0-46AF-9478-08CA3BC83B9F}"/>
              </a:ext>
            </a:extLst>
          </p:cNvPr>
          <p:cNvSpPr txBox="1"/>
          <p:nvPr/>
        </p:nvSpPr>
        <p:spPr>
          <a:xfrm>
            <a:off x="5902387" y="5275721"/>
            <a:ext cx="1188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DBF5D7-7300-4075-847D-86247841A664}"/>
              </a:ext>
            </a:extLst>
          </p:cNvPr>
          <p:cNvSpPr txBox="1"/>
          <p:nvPr/>
        </p:nvSpPr>
        <p:spPr>
          <a:xfrm>
            <a:off x="4271157" y="4998814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6E2305-8DA6-4C3E-A786-41C148ECE800}"/>
              </a:ext>
            </a:extLst>
          </p:cNvPr>
          <p:cNvSpPr txBox="1"/>
          <p:nvPr/>
        </p:nvSpPr>
        <p:spPr>
          <a:xfrm>
            <a:off x="3409034" y="3626817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A05414-CC48-451D-86E9-FE04BF7EDB36}"/>
              </a:ext>
            </a:extLst>
          </p:cNvPr>
          <p:cNvSpPr txBox="1"/>
          <p:nvPr/>
        </p:nvSpPr>
        <p:spPr>
          <a:xfrm>
            <a:off x="3728546" y="1963578"/>
            <a:ext cx="1188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B2A56F-759E-4C03-82E4-0ECE67CA975A}"/>
              </a:ext>
            </a:extLst>
          </p:cNvPr>
          <p:cNvSpPr txBox="1"/>
          <p:nvPr/>
        </p:nvSpPr>
        <p:spPr>
          <a:xfrm>
            <a:off x="0" y="3953383"/>
            <a:ext cx="371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RESULT</a:t>
            </a:r>
            <a:r>
              <a:rPr lang="en-US" sz="12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 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VISUALIZATION 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200" b="0" dirty="0">
                <a:effectLst/>
                <a:latin typeface="Titillium Web" panose="00000500000000000000" pitchFamily="2" charset="0"/>
              </a:rPr>
              <a:t>Displays analysis results in a user-friendly format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200" b="0" dirty="0">
                <a:effectLst/>
                <a:latin typeface="Titillium Web" panose="00000500000000000000" pitchFamily="2" charset="0"/>
              </a:rPr>
              <a:t>Shows confidence, credibility, and sentiment scores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200" b="0" dirty="0">
                <a:effectLst/>
                <a:latin typeface="Titillium Web" panose="00000500000000000000" pitchFamily="2" charset="0"/>
              </a:rPr>
              <a:t>Provides detailed analysis reports</a:t>
            </a:r>
          </a:p>
          <a:p>
            <a:pPr algn="l"/>
            <a:endParaRPr lang="en-US" sz="1200" b="0" spc="600" dirty="0">
              <a:latin typeface="Prime" pitchFamily="50" charset="0"/>
              <a:cs typeface="Arial" panose="020B0604020202020204" pitchFamily="34" charset="0"/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DFF776FF-C82C-4140-BD47-27DE5D91C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435" y="276203"/>
            <a:ext cx="34344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/>
              </a:rPr>
              <a:t>USER AUTHENTICATION &amp; PROFILE MANAGEMENT</a:t>
            </a:r>
            <a:endParaRPr lang="en-US" sz="1200" b="1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ime" pitchFamily="50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Secure user registration and login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Role-based access for User and 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User profile management and session handling</a:t>
            </a:r>
          </a:p>
        </p:txBody>
      </p:sp>
      <p:sp>
        <p:nvSpPr>
          <p:cNvPr id="80" name="Rectangle 2">
            <a:extLst>
              <a:ext uri="{FF2B5EF4-FFF2-40B4-BE49-F238E27FC236}">
                <a16:creationId xmlns:a16="http://schemas.microsoft.com/office/drawing/2014/main" id="{66DCFB27-EA74-ADE8-3F66-28819B097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208" y="1863678"/>
            <a:ext cx="26613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/>
                <a:cs typeface="Arial" panose="020B0604020202020204" pitchFamily="34" charset="0"/>
              </a:rPr>
              <a:t>NEWS CONTENT INPUT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Accepts news content as text or URL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Extracts content from online articles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Prepares data for further analysis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C8DB7B0-1879-F7AA-E227-F863722DF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6744" y="4007157"/>
            <a:ext cx="27382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NLP PREPROCESSING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Text cleaning and normalization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Tokenization and sentiment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Identification of linguistic patterns</a:t>
            </a:r>
          </a:p>
        </p:txBody>
      </p:sp>
      <p:sp>
        <p:nvSpPr>
          <p:cNvPr id="83" name="Rectangle 5">
            <a:extLst>
              <a:ext uri="{FF2B5EF4-FFF2-40B4-BE49-F238E27FC236}">
                <a16:creationId xmlns:a16="http://schemas.microsoft.com/office/drawing/2014/main" id="{8DFBE338-B8A5-B383-C595-6D4F1A0C0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173" y="5836468"/>
            <a:ext cx="32993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AI-BASED NEWS VERIFICATION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ime" pitchFamily="50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Integration with Google Gemini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Analysis of factual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Generation of confidence and credibility scores</a:t>
            </a:r>
          </a:p>
        </p:txBody>
      </p:sp>
      <p:sp>
        <p:nvSpPr>
          <p:cNvPr id="84" name="Rectangle 6">
            <a:extLst>
              <a:ext uri="{FF2B5EF4-FFF2-40B4-BE49-F238E27FC236}">
                <a16:creationId xmlns:a16="http://schemas.microsoft.com/office/drawing/2014/main" id="{ECD02A79-AA85-03A2-070C-69C0FC1A7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753" y="5786360"/>
            <a:ext cx="34596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NEWS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Classifies content as Reliable, Suspicious, or Fake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Uses AI-driven evaluation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Ensures fast and accurate classification</a:t>
            </a:r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88041F30-1F8A-AB03-E15D-C45E71E72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0" y="1869930"/>
            <a:ext cx="3142055" cy="77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000"/>
              </a:lnSpc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ANALYSIS HISTORY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ime" pitchFamily="50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Stores past analysis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Allows users to view previous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Supports historical tracking and comparison</a:t>
            </a:r>
          </a:p>
        </p:txBody>
      </p:sp>
      <p:sp>
        <p:nvSpPr>
          <p:cNvPr id="86" name="Rectangle 8">
            <a:extLst>
              <a:ext uri="{FF2B5EF4-FFF2-40B4-BE49-F238E27FC236}">
                <a16:creationId xmlns:a16="http://schemas.microsoft.com/office/drawing/2014/main" id="{BE6C7892-FDB9-CB08-5258-CDF3B14D1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653" y="288132"/>
            <a:ext cx="32682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ime" pitchFamily="50" charset="0"/>
                <a:cs typeface="Arial" panose="020B0604020202020204" pitchFamily="34" charset="0"/>
              </a:rPr>
              <a:t>ADMIN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User management and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Monitoring of system-wide analyses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Overview of platform usage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352506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4D236BA1-2E53-46D7-9927-7D2A20E62868}"/>
              </a:ext>
            </a:extLst>
          </p:cNvPr>
          <p:cNvSpPr/>
          <p:nvPr/>
        </p:nvSpPr>
        <p:spPr>
          <a:xfrm rot="16200000">
            <a:off x="3304118" y="5008933"/>
            <a:ext cx="1164167" cy="17102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44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B9A8646E-6C27-4511-8BE9-72A059EC39A1}"/>
              </a:ext>
            </a:extLst>
          </p:cNvPr>
          <p:cNvSpPr/>
          <p:nvPr/>
        </p:nvSpPr>
        <p:spPr>
          <a:xfrm rot="16200000">
            <a:off x="3194053" y="3734699"/>
            <a:ext cx="1164165" cy="19303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D6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21BE7F31-0738-4FF1-AFD4-2F00C02CE724}"/>
              </a:ext>
            </a:extLst>
          </p:cNvPr>
          <p:cNvSpPr/>
          <p:nvPr/>
        </p:nvSpPr>
        <p:spPr>
          <a:xfrm rot="16200000">
            <a:off x="3075785" y="2452263"/>
            <a:ext cx="1164162" cy="21669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83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86DC3AF4-70D6-46AA-BECD-E338A95DF6E7}"/>
              </a:ext>
            </a:extLst>
          </p:cNvPr>
          <p:cNvSpPr/>
          <p:nvPr/>
        </p:nvSpPr>
        <p:spPr>
          <a:xfrm rot="16200000">
            <a:off x="2965457" y="1186233"/>
            <a:ext cx="1164162" cy="2387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1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15A5F7F-E767-4454-BE7F-23B84EA27BFC}"/>
              </a:ext>
            </a:extLst>
          </p:cNvPr>
          <p:cNvSpPr/>
          <p:nvPr/>
        </p:nvSpPr>
        <p:spPr>
          <a:xfrm>
            <a:off x="4724399" y="4075481"/>
            <a:ext cx="4571152" cy="2413000"/>
          </a:xfrm>
          <a:custGeom>
            <a:avLst/>
            <a:gdLst>
              <a:gd name="connsiteX0" fmla="*/ 1217572 w 4571152"/>
              <a:gd name="connsiteY0" fmla="*/ 0 h 2413000"/>
              <a:gd name="connsiteX1" fmla="*/ 3996267 w 4571152"/>
              <a:gd name="connsiteY1" fmla="*/ 0 h 2413000"/>
              <a:gd name="connsiteX2" fmla="*/ 3996267 w 4571152"/>
              <a:gd name="connsiteY2" fmla="*/ 10476 h 2413000"/>
              <a:gd name="connsiteX3" fmla="*/ 4096238 w 4571152"/>
              <a:gd name="connsiteY3" fmla="*/ 20554 h 2413000"/>
              <a:gd name="connsiteX4" fmla="*/ 4571152 w 4571152"/>
              <a:gd name="connsiteY4" fmla="*/ 603253 h 2413000"/>
              <a:gd name="connsiteX5" fmla="*/ 3976368 w 4571152"/>
              <a:gd name="connsiteY5" fmla="*/ 1198036 h 2413000"/>
              <a:gd name="connsiteX6" fmla="*/ 1997285 w 4571152"/>
              <a:gd name="connsiteY6" fmla="*/ 1198036 h 2413000"/>
              <a:gd name="connsiteX7" fmla="*/ 1997285 w 4571152"/>
              <a:gd name="connsiteY7" fmla="*/ 1189550 h 2413000"/>
              <a:gd name="connsiteX8" fmla="*/ 1217572 w 4571152"/>
              <a:gd name="connsiteY8" fmla="*/ 1189550 h 2413000"/>
              <a:gd name="connsiteX9" fmla="*/ 24738 w 4571152"/>
              <a:gd name="connsiteY9" fmla="*/ 2323108 h 2413000"/>
              <a:gd name="connsiteX10" fmla="*/ 16965 w 4571152"/>
              <a:gd name="connsiteY10" fmla="*/ 2413000 h 2413000"/>
              <a:gd name="connsiteX11" fmla="*/ 0 w 4571152"/>
              <a:gd name="connsiteY11" fmla="*/ 2216780 h 2413000"/>
              <a:gd name="connsiteX12" fmla="*/ 0 w 4571152"/>
              <a:gd name="connsiteY12" fmla="*/ 1419670 h 2413000"/>
              <a:gd name="connsiteX13" fmla="*/ 1217572 w 4571152"/>
              <a:gd name="connsiteY13" fmla="*/ 0 h 2413000"/>
              <a:gd name="connsiteX0" fmla="*/ 1217572 w 4571152"/>
              <a:gd name="connsiteY0" fmla="*/ 0 h 2413000"/>
              <a:gd name="connsiteX1" fmla="*/ 3996267 w 4571152"/>
              <a:gd name="connsiteY1" fmla="*/ 0 h 2413000"/>
              <a:gd name="connsiteX2" fmla="*/ 3996267 w 4571152"/>
              <a:gd name="connsiteY2" fmla="*/ 10476 h 2413000"/>
              <a:gd name="connsiteX3" fmla="*/ 4096238 w 4571152"/>
              <a:gd name="connsiteY3" fmla="*/ 20554 h 2413000"/>
              <a:gd name="connsiteX4" fmla="*/ 4571152 w 4571152"/>
              <a:gd name="connsiteY4" fmla="*/ 603253 h 2413000"/>
              <a:gd name="connsiteX5" fmla="*/ 3976368 w 4571152"/>
              <a:gd name="connsiteY5" fmla="*/ 1198036 h 2413000"/>
              <a:gd name="connsiteX6" fmla="*/ 1997285 w 4571152"/>
              <a:gd name="connsiteY6" fmla="*/ 1189550 h 2413000"/>
              <a:gd name="connsiteX7" fmla="*/ 1217572 w 4571152"/>
              <a:gd name="connsiteY7" fmla="*/ 1189550 h 2413000"/>
              <a:gd name="connsiteX8" fmla="*/ 24738 w 4571152"/>
              <a:gd name="connsiteY8" fmla="*/ 2323108 h 2413000"/>
              <a:gd name="connsiteX9" fmla="*/ 16965 w 4571152"/>
              <a:gd name="connsiteY9" fmla="*/ 2413000 h 2413000"/>
              <a:gd name="connsiteX10" fmla="*/ 0 w 4571152"/>
              <a:gd name="connsiteY10" fmla="*/ 2216780 h 2413000"/>
              <a:gd name="connsiteX11" fmla="*/ 0 w 4571152"/>
              <a:gd name="connsiteY11" fmla="*/ 1419670 h 2413000"/>
              <a:gd name="connsiteX12" fmla="*/ 1217572 w 4571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71152" h="2413000">
                <a:moveTo>
                  <a:pt x="1217572" y="0"/>
                </a:moveTo>
                <a:lnTo>
                  <a:pt x="3996267" y="0"/>
                </a:lnTo>
                <a:lnTo>
                  <a:pt x="3996267" y="10476"/>
                </a:lnTo>
                <a:lnTo>
                  <a:pt x="4096238" y="20554"/>
                </a:lnTo>
                <a:cubicBezTo>
                  <a:pt x="4367271" y="76015"/>
                  <a:pt x="4571152" y="315824"/>
                  <a:pt x="4571152" y="603253"/>
                </a:cubicBezTo>
                <a:cubicBezTo>
                  <a:pt x="4571152" y="931743"/>
                  <a:pt x="4304858" y="1198036"/>
                  <a:pt x="3976368" y="1198036"/>
                </a:cubicBezTo>
                <a:lnTo>
                  <a:pt x="1997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FC853D"/>
              </a:gs>
              <a:gs pos="0">
                <a:srgbClr val="C44900"/>
              </a:gs>
              <a:gs pos="26000">
                <a:srgbClr val="C44900"/>
              </a:gs>
              <a:gs pos="72000">
                <a:srgbClr val="C44900"/>
              </a:gs>
              <a:gs pos="100000">
                <a:srgbClr val="C44900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C7ECB94-4E81-4F12-8C4E-E7D766F627C7}"/>
              </a:ext>
            </a:extLst>
          </p:cNvPr>
          <p:cNvSpPr/>
          <p:nvPr/>
        </p:nvSpPr>
        <p:spPr>
          <a:xfrm>
            <a:off x="4724399" y="2885915"/>
            <a:ext cx="4952152" cy="2413000"/>
          </a:xfrm>
          <a:custGeom>
            <a:avLst/>
            <a:gdLst>
              <a:gd name="connsiteX0" fmla="*/ 1217572 w 4952152"/>
              <a:gd name="connsiteY0" fmla="*/ 0 h 2413000"/>
              <a:gd name="connsiteX1" fmla="*/ 3996267 w 4952152"/>
              <a:gd name="connsiteY1" fmla="*/ 0 h 2413000"/>
              <a:gd name="connsiteX2" fmla="*/ 3996267 w 4952152"/>
              <a:gd name="connsiteY2" fmla="*/ 8469 h 2413000"/>
              <a:gd name="connsiteX3" fmla="*/ 4357368 w 4952152"/>
              <a:gd name="connsiteY3" fmla="*/ 8469 h 2413000"/>
              <a:gd name="connsiteX4" fmla="*/ 4952152 w 4952152"/>
              <a:gd name="connsiteY4" fmla="*/ 603252 h 2413000"/>
              <a:gd name="connsiteX5" fmla="*/ 4357368 w 4952152"/>
              <a:gd name="connsiteY5" fmla="*/ 1198035 h 2413000"/>
              <a:gd name="connsiteX6" fmla="*/ 2378285 w 4952152"/>
              <a:gd name="connsiteY6" fmla="*/ 1198035 h 2413000"/>
              <a:gd name="connsiteX7" fmla="*/ 2378285 w 4952152"/>
              <a:gd name="connsiteY7" fmla="*/ 1189550 h 2413000"/>
              <a:gd name="connsiteX8" fmla="*/ 1217572 w 4952152"/>
              <a:gd name="connsiteY8" fmla="*/ 1189550 h 2413000"/>
              <a:gd name="connsiteX9" fmla="*/ 24738 w 4952152"/>
              <a:gd name="connsiteY9" fmla="*/ 2323108 h 2413000"/>
              <a:gd name="connsiteX10" fmla="*/ 16965 w 4952152"/>
              <a:gd name="connsiteY10" fmla="*/ 2413000 h 2413000"/>
              <a:gd name="connsiteX11" fmla="*/ 0 w 4952152"/>
              <a:gd name="connsiteY11" fmla="*/ 2216780 h 2413000"/>
              <a:gd name="connsiteX12" fmla="*/ 0 w 4952152"/>
              <a:gd name="connsiteY12" fmla="*/ 1419670 h 2413000"/>
              <a:gd name="connsiteX13" fmla="*/ 1217572 w 4952152"/>
              <a:gd name="connsiteY13" fmla="*/ 0 h 2413000"/>
              <a:gd name="connsiteX0" fmla="*/ 1217572 w 4952152"/>
              <a:gd name="connsiteY0" fmla="*/ 0 h 2413000"/>
              <a:gd name="connsiteX1" fmla="*/ 3996267 w 4952152"/>
              <a:gd name="connsiteY1" fmla="*/ 0 h 2413000"/>
              <a:gd name="connsiteX2" fmla="*/ 3996267 w 4952152"/>
              <a:gd name="connsiteY2" fmla="*/ 8469 h 2413000"/>
              <a:gd name="connsiteX3" fmla="*/ 4357368 w 4952152"/>
              <a:gd name="connsiteY3" fmla="*/ 8469 h 2413000"/>
              <a:gd name="connsiteX4" fmla="*/ 4952152 w 4952152"/>
              <a:gd name="connsiteY4" fmla="*/ 603252 h 2413000"/>
              <a:gd name="connsiteX5" fmla="*/ 4357368 w 4952152"/>
              <a:gd name="connsiteY5" fmla="*/ 1198035 h 2413000"/>
              <a:gd name="connsiteX6" fmla="*/ 2378285 w 4952152"/>
              <a:gd name="connsiteY6" fmla="*/ 1198035 h 2413000"/>
              <a:gd name="connsiteX7" fmla="*/ 1217572 w 4952152"/>
              <a:gd name="connsiteY7" fmla="*/ 1189550 h 2413000"/>
              <a:gd name="connsiteX8" fmla="*/ 24738 w 4952152"/>
              <a:gd name="connsiteY8" fmla="*/ 2323108 h 2413000"/>
              <a:gd name="connsiteX9" fmla="*/ 16965 w 4952152"/>
              <a:gd name="connsiteY9" fmla="*/ 2413000 h 2413000"/>
              <a:gd name="connsiteX10" fmla="*/ 0 w 4952152"/>
              <a:gd name="connsiteY10" fmla="*/ 2216780 h 2413000"/>
              <a:gd name="connsiteX11" fmla="*/ 0 w 4952152"/>
              <a:gd name="connsiteY11" fmla="*/ 1419670 h 2413000"/>
              <a:gd name="connsiteX12" fmla="*/ 1217572 w 4952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52152" h="2413000">
                <a:moveTo>
                  <a:pt x="1217572" y="0"/>
                </a:moveTo>
                <a:lnTo>
                  <a:pt x="3996267" y="0"/>
                </a:lnTo>
                <a:lnTo>
                  <a:pt x="3996267" y="8469"/>
                </a:lnTo>
                <a:lnTo>
                  <a:pt x="4357368" y="8469"/>
                </a:lnTo>
                <a:cubicBezTo>
                  <a:pt x="4685858" y="8469"/>
                  <a:pt x="4952152" y="274762"/>
                  <a:pt x="4952152" y="603252"/>
                </a:cubicBezTo>
                <a:cubicBezTo>
                  <a:pt x="4952152" y="931742"/>
                  <a:pt x="4685858" y="1198035"/>
                  <a:pt x="4357368" y="1198035"/>
                </a:cubicBezTo>
                <a:lnTo>
                  <a:pt x="2378285" y="1198035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FBF5EB"/>
              </a:gs>
              <a:gs pos="0">
                <a:srgbClr val="EFD6AC"/>
              </a:gs>
              <a:gs pos="26000">
                <a:srgbClr val="EFD6AC"/>
              </a:gs>
              <a:gs pos="72000">
                <a:srgbClr val="EFD6AC"/>
              </a:gs>
              <a:gs pos="100000">
                <a:srgbClr val="EFD6AC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54942CA-E58D-4698-8288-D777C81D3855}"/>
              </a:ext>
            </a:extLst>
          </p:cNvPr>
          <p:cNvSpPr/>
          <p:nvPr/>
        </p:nvSpPr>
        <p:spPr>
          <a:xfrm>
            <a:off x="4724399" y="1704816"/>
            <a:ext cx="5333152" cy="2413000"/>
          </a:xfrm>
          <a:custGeom>
            <a:avLst/>
            <a:gdLst>
              <a:gd name="connsiteX0" fmla="*/ 1217572 w 5333152"/>
              <a:gd name="connsiteY0" fmla="*/ 0 h 2413000"/>
              <a:gd name="connsiteX1" fmla="*/ 3996267 w 5333152"/>
              <a:gd name="connsiteY1" fmla="*/ 0 h 2413000"/>
              <a:gd name="connsiteX2" fmla="*/ 3996267 w 5333152"/>
              <a:gd name="connsiteY2" fmla="*/ 1 h 2413000"/>
              <a:gd name="connsiteX3" fmla="*/ 4738368 w 5333152"/>
              <a:gd name="connsiteY3" fmla="*/ 1 h 2413000"/>
              <a:gd name="connsiteX4" fmla="*/ 5333152 w 5333152"/>
              <a:gd name="connsiteY4" fmla="*/ 594784 h 2413000"/>
              <a:gd name="connsiteX5" fmla="*/ 4738368 w 5333152"/>
              <a:gd name="connsiteY5" fmla="*/ 1189567 h 2413000"/>
              <a:gd name="connsiteX6" fmla="*/ 2759285 w 5333152"/>
              <a:gd name="connsiteY6" fmla="*/ 1189567 h 2413000"/>
              <a:gd name="connsiteX7" fmla="*/ 2759285 w 5333152"/>
              <a:gd name="connsiteY7" fmla="*/ 1189550 h 2413000"/>
              <a:gd name="connsiteX8" fmla="*/ 1217572 w 5333152"/>
              <a:gd name="connsiteY8" fmla="*/ 1189550 h 2413000"/>
              <a:gd name="connsiteX9" fmla="*/ 24738 w 5333152"/>
              <a:gd name="connsiteY9" fmla="*/ 2323108 h 2413000"/>
              <a:gd name="connsiteX10" fmla="*/ 16965 w 5333152"/>
              <a:gd name="connsiteY10" fmla="*/ 2413000 h 2413000"/>
              <a:gd name="connsiteX11" fmla="*/ 0 w 5333152"/>
              <a:gd name="connsiteY11" fmla="*/ 2216780 h 2413000"/>
              <a:gd name="connsiteX12" fmla="*/ 0 w 5333152"/>
              <a:gd name="connsiteY12" fmla="*/ 1419670 h 2413000"/>
              <a:gd name="connsiteX13" fmla="*/ 1217572 w 5333152"/>
              <a:gd name="connsiteY13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33152" h="2413000">
                <a:moveTo>
                  <a:pt x="1217572" y="0"/>
                </a:moveTo>
                <a:lnTo>
                  <a:pt x="3996267" y="0"/>
                </a:lnTo>
                <a:lnTo>
                  <a:pt x="3996267" y="1"/>
                </a:lnTo>
                <a:lnTo>
                  <a:pt x="4738368" y="1"/>
                </a:lnTo>
                <a:cubicBezTo>
                  <a:pt x="5066858" y="1"/>
                  <a:pt x="5333152" y="266294"/>
                  <a:pt x="5333152" y="594784"/>
                </a:cubicBezTo>
                <a:cubicBezTo>
                  <a:pt x="5333152" y="923274"/>
                  <a:pt x="5066858" y="1189567"/>
                  <a:pt x="4738368" y="1189567"/>
                </a:cubicBezTo>
                <a:lnTo>
                  <a:pt x="2759285" y="1189567"/>
                </a:lnTo>
                <a:lnTo>
                  <a:pt x="2759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398982"/>
              </a:gs>
              <a:gs pos="0">
                <a:srgbClr val="183A37"/>
              </a:gs>
              <a:gs pos="26000">
                <a:srgbClr val="183A37"/>
              </a:gs>
              <a:gs pos="72000">
                <a:srgbClr val="183A37"/>
              </a:gs>
              <a:gs pos="100000">
                <a:srgbClr val="183A37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057EB4E-D814-4BCC-8B43-9285FD2ECB4B}"/>
              </a:ext>
            </a:extLst>
          </p:cNvPr>
          <p:cNvSpPr/>
          <p:nvPr/>
        </p:nvSpPr>
        <p:spPr>
          <a:xfrm>
            <a:off x="4724399" y="515250"/>
            <a:ext cx="5714152" cy="2413000"/>
          </a:xfrm>
          <a:custGeom>
            <a:avLst/>
            <a:gdLst>
              <a:gd name="connsiteX0" fmla="*/ 3140285 w 5714152"/>
              <a:gd name="connsiteY0" fmla="*/ 0 h 2413000"/>
              <a:gd name="connsiteX1" fmla="*/ 5119368 w 5714152"/>
              <a:gd name="connsiteY1" fmla="*/ 0 h 2413000"/>
              <a:gd name="connsiteX2" fmla="*/ 5714152 w 5714152"/>
              <a:gd name="connsiteY2" fmla="*/ 594783 h 2413000"/>
              <a:gd name="connsiteX3" fmla="*/ 5119368 w 5714152"/>
              <a:gd name="connsiteY3" fmla="*/ 1189566 h 2413000"/>
              <a:gd name="connsiteX4" fmla="*/ 3140285 w 5714152"/>
              <a:gd name="connsiteY4" fmla="*/ 1189566 h 2413000"/>
              <a:gd name="connsiteX5" fmla="*/ 3140285 w 5714152"/>
              <a:gd name="connsiteY5" fmla="*/ 1189550 h 2413000"/>
              <a:gd name="connsiteX6" fmla="*/ 1217572 w 5714152"/>
              <a:gd name="connsiteY6" fmla="*/ 1189550 h 2413000"/>
              <a:gd name="connsiteX7" fmla="*/ 24738 w 5714152"/>
              <a:gd name="connsiteY7" fmla="*/ 2323108 h 2413000"/>
              <a:gd name="connsiteX8" fmla="*/ 16965 w 5714152"/>
              <a:gd name="connsiteY8" fmla="*/ 2413000 h 2413000"/>
              <a:gd name="connsiteX9" fmla="*/ 0 w 5714152"/>
              <a:gd name="connsiteY9" fmla="*/ 2216780 h 2413000"/>
              <a:gd name="connsiteX10" fmla="*/ 0 w 5714152"/>
              <a:gd name="connsiteY10" fmla="*/ 1419670 h 2413000"/>
              <a:gd name="connsiteX11" fmla="*/ 1217572 w 5714152"/>
              <a:gd name="connsiteY11" fmla="*/ 0 h 2413000"/>
              <a:gd name="connsiteX12" fmla="*/ 3140285 w 5714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14152" h="2413000">
                <a:moveTo>
                  <a:pt x="3140285" y="0"/>
                </a:moveTo>
                <a:lnTo>
                  <a:pt x="5119368" y="0"/>
                </a:lnTo>
                <a:cubicBezTo>
                  <a:pt x="5447858" y="0"/>
                  <a:pt x="5714152" y="266293"/>
                  <a:pt x="5714152" y="594783"/>
                </a:cubicBezTo>
                <a:cubicBezTo>
                  <a:pt x="5714152" y="923273"/>
                  <a:pt x="5447858" y="1189566"/>
                  <a:pt x="5119368" y="1189566"/>
                </a:cubicBezTo>
                <a:lnTo>
                  <a:pt x="3140285" y="1189566"/>
                </a:lnTo>
                <a:lnTo>
                  <a:pt x="3140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lnTo>
                  <a:pt x="3140285" y="0"/>
                </a:lnTo>
                <a:close/>
              </a:path>
            </a:pathLst>
          </a:custGeom>
          <a:gradFill flip="none" rotWithShape="1">
            <a:gsLst>
              <a:gs pos="11000">
                <a:srgbClr val="11557F"/>
              </a:gs>
              <a:gs pos="0">
                <a:srgbClr val="04151F"/>
              </a:gs>
              <a:gs pos="26000">
                <a:srgbClr val="04151F"/>
              </a:gs>
              <a:gs pos="72000">
                <a:srgbClr val="04151F"/>
              </a:gs>
              <a:gs pos="100000">
                <a:srgbClr val="04151F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88D41C8-D7A5-4418-A813-EFE93AF7FA89}"/>
              </a:ext>
            </a:extLst>
          </p:cNvPr>
          <p:cNvSpPr/>
          <p:nvPr/>
        </p:nvSpPr>
        <p:spPr>
          <a:xfrm>
            <a:off x="9364129" y="623200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C15CAE-8AA4-45DE-B4CD-A5980709A573}"/>
              </a:ext>
            </a:extLst>
          </p:cNvPr>
          <p:cNvSpPr/>
          <p:nvPr/>
        </p:nvSpPr>
        <p:spPr>
          <a:xfrm>
            <a:off x="8979749" y="1808532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EB8F7C1-3D17-4A0D-9353-5AD4F34603CA}"/>
              </a:ext>
            </a:extLst>
          </p:cNvPr>
          <p:cNvSpPr/>
          <p:nvPr/>
        </p:nvSpPr>
        <p:spPr>
          <a:xfrm>
            <a:off x="8595369" y="2993864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3FEE88-0429-4617-BA0D-451577C4E0D2}"/>
              </a:ext>
            </a:extLst>
          </p:cNvPr>
          <p:cNvSpPr/>
          <p:nvPr/>
        </p:nvSpPr>
        <p:spPr>
          <a:xfrm>
            <a:off x="8210989" y="4179196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201686-7F1F-4516-ADDA-FDC8D3015F5B}"/>
              </a:ext>
            </a:extLst>
          </p:cNvPr>
          <p:cNvSpPr txBox="1"/>
          <p:nvPr/>
        </p:nvSpPr>
        <p:spPr>
          <a:xfrm>
            <a:off x="9450016" y="786867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C85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04</a:t>
            </a:r>
            <a:endParaRPr lang="en-IN" sz="2000" dirty="0">
              <a:solidFill>
                <a:srgbClr val="FC853D"/>
              </a:solidFill>
              <a:latin typeface="Economica" panose="0200050604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5BF3C9-C93A-4AD1-B655-F376D69A1D5D}"/>
              </a:ext>
            </a:extLst>
          </p:cNvPr>
          <p:cNvSpPr txBox="1"/>
          <p:nvPr/>
        </p:nvSpPr>
        <p:spPr>
          <a:xfrm>
            <a:off x="9065636" y="1953665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EFD6A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03</a:t>
            </a:r>
            <a:endParaRPr lang="en-IN" sz="2000" dirty="0">
              <a:solidFill>
                <a:srgbClr val="EFD6AC"/>
              </a:solidFill>
              <a:latin typeface="Economica" panose="0200050604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DEC01D-1029-4C1D-BBAE-BF14A9210432}"/>
              </a:ext>
            </a:extLst>
          </p:cNvPr>
          <p:cNvSpPr txBox="1"/>
          <p:nvPr/>
        </p:nvSpPr>
        <p:spPr>
          <a:xfrm>
            <a:off x="8664690" y="3157531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183A3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02</a:t>
            </a:r>
            <a:endParaRPr lang="en-IN" sz="2000" dirty="0">
              <a:solidFill>
                <a:srgbClr val="183A37"/>
              </a:solidFill>
              <a:latin typeface="Economica" panose="02000506040000020004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E4400-66E3-44DA-A5EA-C3A98DA47D57}"/>
              </a:ext>
            </a:extLst>
          </p:cNvPr>
          <p:cNvSpPr txBox="1"/>
          <p:nvPr/>
        </p:nvSpPr>
        <p:spPr>
          <a:xfrm>
            <a:off x="8314918" y="4375970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4151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01</a:t>
            </a:r>
            <a:endParaRPr lang="en-IN" sz="2000" dirty="0">
              <a:solidFill>
                <a:srgbClr val="04151F"/>
              </a:solidFill>
              <a:latin typeface="Economica" panose="0200050604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B4DFC6-A671-4B18-AF8D-124848318068}"/>
              </a:ext>
            </a:extLst>
          </p:cNvPr>
          <p:cNvSpPr txBox="1"/>
          <p:nvPr/>
        </p:nvSpPr>
        <p:spPr>
          <a:xfrm>
            <a:off x="5717901" y="4021912"/>
            <a:ext cx="3297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NLP Technologies</a:t>
            </a:r>
          </a:p>
          <a:p>
            <a:r>
              <a:rPr lang="en-IN" sz="1400" dirty="0">
                <a:solidFill>
                  <a:schemeClr val="bg1"/>
                </a:solidFill>
              </a:rPr>
              <a:t>Tokenization, </a:t>
            </a:r>
            <a:r>
              <a:rPr lang="en-IN" sz="1400" dirty="0" err="1">
                <a:solidFill>
                  <a:schemeClr val="bg1"/>
                </a:solidFill>
              </a:rPr>
              <a:t>Stopword</a:t>
            </a:r>
            <a:r>
              <a:rPr lang="en-IN" sz="1400" dirty="0">
                <a:solidFill>
                  <a:schemeClr val="bg1"/>
                </a:solidFill>
              </a:rPr>
              <a:t> removal</a:t>
            </a:r>
          </a:p>
          <a:p>
            <a:r>
              <a:rPr lang="en-IN" sz="1400" dirty="0">
                <a:solidFill>
                  <a:schemeClr val="bg1"/>
                </a:solidFill>
              </a:rPr>
              <a:t>Lemmatization (</a:t>
            </a:r>
            <a:r>
              <a:rPr lang="en-IN" sz="1400" dirty="0" err="1">
                <a:solidFill>
                  <a:schemeClr val="bg1"/>
                </a:solidFill>
              </a:rPr>
              <a:t>spaCy</a:t>
            </a:r>
            <a:r>
              <a:rPr lang="en-IN" sz="1400" dirty="0">
                <a:solidFill>
                  <a:schemeClr val="bg1"/>
                </a:solidFill>
              </a:rPr>
              <a:t>, NLTK)</a:t>
            </a:r>
          </a:p>
          <a:p>
            <a:r>
              <a:rPr lang="en-IN" sz="1400" dirty="0">
                <a:solidFill>
                  <a:schemeClr val="bg1"/>
                </a:solidFill>
              </a:rPr>
              <a:t>Named Entity Recognition (NER)</a:t>
            </a:r>
          </a:p>
          <a:p>
            <a:r>
              <a:rPr lang="en-IN" sz="1400" dirty="0">
                <a:solidFill>
                  <a:schemeClr val="bg1"/>
                </a:solidFill>
              </a:rPr>
              <a:t>Dependency Parsing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3A2BC8-2F02-44BD-A2C6-6E6AE4D3B7BE}"/>
              </a:ext>
            </a:extLst>
          </p:cNvPr>
          <p:cNvSpPr txBox="1"/>
          <p:nvPr/>
        </p:nvSpPr>
        <p:spPr>
          <a:xfrm>
            <a:off x="5801060" y="588523"/>
            <a:ext cx="2844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Web &amp; Backend Technologies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Flask / </a:t>
            </a:r>
            <a:r>
              <a:rPr lang="en-US" sz="1400" dirty="0" err="1">
                <a:solidFill>
                  <a:schemeClr val="bg1"/>
                </a:solidFill>
              </a:rPr>
              <a:t>FastAPI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JWT Authentication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Docker deployment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CC73B4-14D9-4B11-A8AC-0B3AB6C382B9}"/>
              </a:ext>
            </a:extLst>
          </p:cNvPr>
          <p:cNvSpPr txBox="1"/>
          <p:nvPr/>
        </p:nvSpPr>
        <p:spPr>
          <a:xfrm>
            <a:off x="5796223" y="1773691"/>
            <a:ext cx="268997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APIs &amp; Databases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Google Fact Check Tools API</a:t>
            </a:r>
          </a:p>
          <a:p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PolitiFact API</a:t>
            </a:r>
          </a:p>
          <a:p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SQL / NoSQL storage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EAF0E7-F78E-4C85-B9D9-D4E481AAB43D}"/>
              </a:ext>
            </a:extLst>
          </p:cNvPr>
          <p:cNvSpPr txBox="1"/>
          <p:nvPr/>
        </p:nvSpPr>
        <p:spPr>
          <a:xfrm>
            <a:off x="5728163" y="2961334"/>
            <a:ext cx="309767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Machine Learning /Deep Learning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Transformer models: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BERT, </a:t>
            </a:r>
            <a:r>
              <a:rPr lang="en-US" sz="1400" b="1" dirty="0" err="1">
                <a:solidFill>
                  <a:schemeClr val="accent5">
                    <a:lumMod val="50000"/>
                  </a:schemeClr>
                </a:solidFill>
              </a:rPr>
              <a:t>RoBERTa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en-US" sz="1400" b="1" dirty="0" err="1">
                <a:solidFill>
                  <a:schemeClr val="accent5">
                    <a:lumMod val="50000"/>
                  </a:schemeClr>
                </a:solidFill>
              </a:rPr>
              <a:t>DistilBERT</a:t>
            </a:r>
            <a:endParaRPr lang="en-US" sz="14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Fine-tuning for classification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F242D3-578E-4B78-95A0-57308B46328D}"/>
              </a:ext>
            </a:extLst>
          </p:cNvPr>
          <p:cNvSpPr txBox="1"/>
          <p:nvPr/>
        </p:nvSpPr>
        <p:spPr>
          <a:xfrm>
            <a:off x="284891" y="150380"/>
            <a:ext cx="4239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Technology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Economica" panose="020005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747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F545A4-843D-86B1-F304-3EF821464EA1}"/>
              </a:ext>
            </a:extLst>
          </p:cNvPr>
          <p:cNvSpPr txBox="1"/>
          <p:nvPr/>
        </p:nvSpPr>
        <p:spPr>
          <a:xfrm>
            <a:off x="4149212" y="452283"/>
            <a:ext cx="3471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ARCHITECTURE DIAGRAM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535BE-4BF4-97CA-3617-E8BA0AECF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50" y="913948"/>
            <a:ext cx="8709699" cy="580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7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7775BBE-648E-43F5-9007-5144098B23ED}"/>
              </a:ext>
            </a:extLst>
          </p:cNvPr>
          <p:cNvSpPr/>
          <p:nvPr/>
        </p:nvSpPr>
        <p:spPr>
          <a:xfrm>
            <a:off x="2651108" y="5154495"/>
            <a:ext cx="6330984" cy="1407842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0"/>
                </a:schemeClr>
              </a:gs>
              <a:gs pos="83000">
                <a:schemeClr val="tx1">
                  <a:lumMod val="75000"/>
                  <a:lumOff val="25000"/>
                  <a:alpha val="86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4BFD768-8016-44F5-A9AB-BFD03C3AD7CB}"/>
              </a:ext>
            </a:extLst>
          </p:cNvPr>
          <p:cNvSpPr/>
          <p:nvPr/>
        </p:nvSpPr>
        <p:spPr>
          <a:xfrm>
            <a:off x="5007992" y="5257839"/>
            <a:ext cx="3368138" cy="869324"/>
          </a:xfrm>
          <a:custGeom>
            <a:avLst/>
            <a:gdLst>
              <a:gd name="connsiteX0" fmla="*/ 1 w 3368138"/>
              <a:gd name="connsiteY0" fmla="*/ 0 h 869324"/>
              <a:gd name="connsiteX1" fmla="*/ 3368138 w 3368138"/>
              <a:gd name="connsiteY1" fmla="*/ 0 h 869324"/>
              <a:gd name="connsiteX2" fmla="*/ 3368138 w 3368138"/>
              <a:gd name="connsiteY2" fmla="*/ 579549 h 869324"/>
              <a:gd name="connsiteX3" fmla="*/ 1684069 w 3368138"/>
              <a:gd name="connsiteY3" fmla="*/ 869324 h 869324"/>
              <a:gd name="connsiteX4" fmla="*/ 0 w 3368138"/>
              <a:gd name="connsiteY4" fmla="*/ 579549 h 869324"/>
              <a:gd name="connsiteX5" fmla="*/ 1 w 3368138"/>
              <a:gd name="connsiteY5" fmla="*/ 579547 h 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8138" h="869324">
                <a:moveTo>
                  <a:pt x="1" y="0"/>
                </a:moveTo>
                <a:lnTo>
                  <a:pt x="3368138" y="0"/>
                </a:lnTo>
                <a:lnTo>
                  <a:pt x="3368138" y="579549"/>
                </a:lnTo>
                <a:cubicBezTo>
                  <a:pt x="3368138" y="739587"/>
                  <a:pt x="2614155" y="869324"/>
                  <a:pt x="1684069" y="869324"/>
                </a:cubicBezTo>
                <a:cubicBezTo>
                  <a:pt x="753983" y="869324"/>
                  <a:pt x="0" y="739587"/>
                  <a:pt x="0" y="579549"/>
                </a:cubicBezTo>
                <a:lnTo>
                  <a:pt x="1" y="579547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97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890664-597D-4C09-B778-C5E5266D4AF3}"/>
              </a:ext>
            </a:extLst>
          </p:cNvPr>
          <p:cNvSpPr/>
          <p:nvPr/>
        </p:nvSpPr>
        <p:spPr>
          <a:xfrm>
            <a:off x="5007995" y="4968066"/>
            <a:ext cx="3368137" cy="579549"/>
          </a:xfrm>
          <a:prstGeom prst="ellipse">
            <a:avLst/>
          </a:prstGeom>
          <a:gradFill>
            <a:gsLst>
              <a:gs pos="0">
                <a:srgbClr val="BFA8D6"/>
              </a:gs>
              <a:gs pos="83000">
                <a:srgbClr val="9690C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36DD7C-B9FD-48FE-855D-CBF632F36687}"/>
              </a:ext>
            </a:extLst>
          </p:cNvPr>
          <p:cNvGrpSpPr/>
          <p:nvPr/>
        </p:nvGrpSpPr>
        <p:grpSpPr>
          <a:xfrm>
            <a:off x="3759921" y="4163837"/>
            <a:ext cx="4113358" cy="1516085"/>
            <a:chOff x="1378854" y="1712890"/>
            <a:chExt cx="4113358" cy="151608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7929EE-F623-4D68-B999-8A57445141F6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AFE90E-C1D4-4256-B934-A55DF55FB621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4663EA-60CB-4EE2-9E85-F2D341F86A30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94C8D8"/>
                </a:gs>
                <a:gs pos="83000">
                  <a:srgbClr val="7AB5D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E2B354-A6D0-437A-84FD-ED864F66F4CD}"/>
              </a:ext>
            </a:extLst>
          </p:cNvPr>
          <p:cNvGrpSpPr/>
          <p:nvPr/>
        </p:nvGrpSpPr>
        <p:grpSpPr>
          <a:xfrm>
            <a:off x="2772391" y="3346723"/>
            <a:ext cx="4113358" cy="1516085"/>
            <a:chOff x="1378854" y="1712890"/>
            <a:chExt cx="4113358" cy="151608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AF46755-C5FA-478A-B98C-DCDB19ABA69B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8C3B6C6-1BBE-4C10-B4FE-BC33717D09CE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F740B4-1491-4ACE-92C1-9717DE5BE640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9CD4AD"/>
                </a:gs>
                <a:gs pos="83000">
                  <a:srgbClr val="82C79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4A1C59-02AE-4A76-BE2D-33698BA9DD33}"/>
              </a:ext>
            </a:extLst>
          </p:cNvPr>
          <p:cNvGrpSpPr/>
          <p:nvPr/>
        </p:nvGrpSpPr>
        <p:grpSpPr>
          <a:xfrm>
            <a:off x="2042875" y="2507831"/>
            <a:ext cx="4113358" cy="1516085"/>
            <a:chOff x="1378854" y="1712890"/>
            <a:chExt cx="4113358" cy="151608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6BB0EC-259F-49D9-8C8B-6ADF711BBDDC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E383D8-5E40-47CF-AD67-475E16BFEDA1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BD7D6FF-B2AE-42C5-8B17-5AA99BB95AF2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F2EA84"/>
                </a:gs>
                <a:gs pos="83000">
                  <a:srgbClr val="FFC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860D49-B31F-4D2D-8179-EF7705E09CC6}"/>
              </a:ext>
            </a:extLst>
          </p:cNvPr>
          <p:cNvGrpSpPr/>
          <p:nvPr/>
        </p:nvGrpSpPr>
        <p:grpSpPr>
          <a:xfrm>
            <a:off x="1378854" y="1712890"/>
            <a:ext cx="4113358" cy="1516085"/>
            <a:chOff x="1378854" y="1712890"/>
            <a:chExt cx="4113358" cy="151608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D01F09-8E33-4950-A9C1-AE03EDE890CB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EB018CF-3BA4-4270-A259-13391C75866E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3245D02-66B5-459D-8C6E-7384E4B8FEB1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FDA28F"/>
                </a:gs>
                <a:gs pos="83000">
                  <a:srgbClr val="FF4F65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BD52997-1B22-4724-BD66-F1D4E4252643}"/>
              </a:ext>
            </a:extLst>
          </p:cNvPr>
          <p:cNvSpPr txBox="1"/>
          <p:nvPr/>
        </p:nvSpPr>
        <p:spPr>
          <a:xfrm>
            <a:off x="2625694" y="2402573"/>
            <a:ext cx="1719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Users Table</a:t>
            </a:r>
            <a:endParaRPr lang="en-US" sz="2000" b="1" dirty="0">
              <a:solidFill>
                <a:srgbClr val="FF0000"/>
              </a:solidFill>
              <a:latin typeface="Economica" panose="0200050604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5E101A-BB87-4252-A31C-6C3A73274039}"/>
              </a:ext>
            </a:extLst>
          </p:cNvPr>
          <p:cNvSpPr txBox="1"/>
          <p:nvPr/>
        </p:nvSpPr>
        <p:spPr>
          <a:xfrm>
            <a:off x="3142807" y="3172771"/>
            <a:ext cx="1719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Articles Table</a:t>
            </a:r>
            <a:endParaRPr lang="en-US" sz="2000" b="1" dirty="0">
              <a:solidFill>
                <a:srgbClr val="FFC000"/>
              </a:solidFill>
              <a:latin typeface="Economica" panose="0200050604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9FB75D-F25C-4022-85AD-22F7A7C26589}"/>
              </a:ext>
            </a:extLst>
          </p:cNvPr>
          <p:cNvSpPr txBox="1"/>
          <p:nvPr/>
        </p:nvSpPr>
        <p:spPr>
          <a:xfrm>
            <a:off x="3611680" y="4000871"/>
            <a:ext cx="2445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Economica" panose="02000506040000020004" pitchFamily="2" charset="0"/>
              </a:rPr>
              <a:t>Analysis Table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768702-B16E-4122-A0C1-CA19468292D0}"/>
              </a:ext>
            </a:extLst>
          </p:cNvPr>
          <p:cNvSpPr txBox="1"/>
          <p:nvPr/>
        </p:nvSpPr>
        <p:spPr>
          <a:xfrm>
            <a:off x="4873784" y="4812809"/>
            <a:ext cx="1719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Entities Table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Economica" panose="0200050604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FAB545-90DE-470B-BE1B-0463DAA9A423}"/>
              </a:ext>
            </a:extLst>
          </p:cNvPr>
          <p:cNvSpPr txBox="1"/>
          <p:nvPr/>
        </p:nvSpPr>
        <p:spPr>
          <a:xfrm>
            <a:off x="5306819" y="5579924"/>
            <a:ext cx="3203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944BC9"/>
                </a:solidFill>
              </a:rPr>
              <a:t>Verification Results Table</a:t>
            </a:r>
            <a:endParaRPr lang="en-US" sz="2000" b="1" dirty="0">
              <a:solidFill>
                <a:srgbClr val="944BC9"/>
              </a:solidFill>
              <a:latin typeface="Economica" panose="02000506040000020004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15C311-120F-45AE-8FFF-BE15DBA48121}"/>
              </a:ext>
            </a:extLst>
          </p:cNvPr>
          <p:cNvSpPr txBox="1"/>
          <p:nvPr/>
        </p:nvSpPr>
        <p:spPr>
          <a:xfrm>
            <a:off x="5171623" y="1388777"/>
            <a:ext cx="27445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5050"/>
                </a:solidFill>
              </a:rPr>
              <a:t>Stores user account details such as user ID, name, email, password, and role (user/admin).</a:t>
            </a:r>
            <a:endParaRPr lang="en-US" sz="1600" b="1" dirty="0">
              <a:solidFill>
                <a:srgbClr val="FF5050"/>
              </a:solidFill>
              <a:latin typeface="Economica" panose="0200050604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76D8D4-5654-47C0-8E47-72D2E797950F}"/>
              </a:ext>
            </a:extLst>
          </p:cNvPr>
          <p:cNvSpPr txBox="1"/>
          <p:nvPr/>
        </p:nvSpPr>
        <p:spPr>
          <a:xfrm>
            <a:off x="5903106" y="2589209"/>
            <a:ext cx="2740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Stores news articles or social media content submitted by users for analysis.</a:t>
            </a:r>
            <a:endParaRPr lang="en-US" sz="1600" b="1" dirty="0">
              <a:solidFill>
                <a:schemeClr val="accent4">
                  <a:lumMod val="60000"/>
                  <a:lumOff val="40000"/>
                </a:schemeClr>
              </a:solidFill>
              <a:latin typeface="Economica" panose="0200050604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A38B9C-B3F7-4C6C-920D-760F208D84B5}"/>
              </a:ext>
            </a:extLst>
          </p:cNvPr>
          <p:cNvSpPr txBox="1"/>
          <p:nvPr/>
        </p:nvSpPr>
        <p:spPr>
          <a:xfrm>
            <a:off x="6833008" y="3446721"/>
            <a:ext cx="3726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Stores cleaned and preprocessed text after NLP steps like tokenization and </a:t>
            </a:r>
            <a:r>
              <a:rPr lang="en-US" alt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stopword</a:t>
            </a:r>
            <a:r>
              <a:rPr lang="en-US" alt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removal.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BBA3A9-0627-4353-B946-697D29F9B28A}"/>
              </a:ext>
            </a:extLst>
          </p:cNvPr>
          <p:cNvSpPr txBox="1"/>
          <p:nvPr/>
        </p:nvSpPr>
        <p:spPr>
          <a:xfrm>
            <a:off x="7773692" y="4304233"/>
            <a:ext cx="3277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Stores named entities (people, places, organizations) extracted from the text using NER.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  <a:latin typeface="Economica" panose="0200050604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048D8A-67F8-41EA-A935-FAAF58585119}"/>
              </a:ext>
            </a:extLst>
          </p:cNvPr>
          <p:cNvSpPr txBox="1"/>
          <p:nvPr/>
        </p:nvSpPr>
        <p:spPr>
          <a:xfrm>
            <a:off x="8644088" y="5161746"/>
            <a:ext cx="31644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Stores the final analysis results including credibility score, classification, and verification sources.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02982-D25C-47F4-A621-FF1AC55FBF61}"/>
              </a:ext>
            </a:extLst>
          </p:cNvPr>
          <p:cNvSpPr txBox="1"/>
          <p:nvPr/>
        </p:nvSpPr>
        <p:spPr>
          <a:xfrm>
            <a:off x="2726190" y="90949"/>
            <a:ext cx="5377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Database / Schema Overview</a:t>
            </a:r>
            <a:endParaRPr 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Arca Majora 3 Bold" panose="00000800000000000000" pitchFamily="50" charset="0"/>
              <a:ea typeface="Adobe Gothic Std B" panose="020B0800000000000000" pitchFamily="34" charset="-128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0875DF4-2F95-DFE6-5370-9DBFFF1986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899" y="4221"/>
            <a:ext cx="3164453" cy="297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7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7338ED-1796-412A-9724-BCCD8DC4707F}"/>
              </a:ext>
            </a:extLst>
          </p:cNvPr>
          <p:cNvSpPr/>
          <p:nvPr/>
        </p:nvSpPr>
        <p:spPr>
          <a:xfrm>
            <a:off x="5486399" y="315531"/>
            <a:ext cx="1222420" cy="6226936"/>
          </a:xfrm>
          <a:custGeom>
            <a:avLst/>
            <a:gdLst>
              <a:gd name="connsiteX0" fmla="*/ 609600 w 1222420"/>
              <a:gd name="connsiteY0" fmla="*/ 199622 h 6226936"/>
              <a:gd name="connsiteX1" fmla="*/ 163132 w 1222420"/>
              <a:gd name="connsiteY1" fmla="*/ 646090 h 6226936"/>
              <a:gd name="connsiteX2" fmla="*/ 163132 w 1222420"/>
              <a:gd name="connsiteY2" fmla="*/ 5574405 h 6226936"/>
              <a:gd name="connsiteX3" fmla="*/ 609600 w 1222420"/>
              <a:gd name="connsiteY3" fmla="*/ 6020873 h 6226936"/>
              <a:gd name="connsiteX4" fmla="*/ 609599 w 1222420"/>
              <a:gd name="connsiteY4" fmla="*/ 6020874 h 6226936"/>
              <a:gd name="connsiteX5" fmla="*/ 1056067 w 1222420"/>
              <a:gd name="connsiteY5" fmla="*/ 5574406 h 6226936"/>
              <a:gd name="connsiteX6" fmla="*/ 1056068 w 1222420"/>
              <a:gd name="connsiteY6" fmla="*/ 646090 h 6226936"/>
              <a:gd name="connsiteX7" fmla="*/ 609600 w 1222420"/>
              <a:gd name="connsiteY7" fmla="*/ 199622 h 6226936"/>
              <a:gd name="connsiteX8" fmla="*/ 611210 w 1222420"/>
              <a:gd name="connsiteY8" fmla="*/ 0 h 6226936"/>
              <a:gd name="connsiteX9" fmla="*/ 1222420 w 1222420"/>
              <a:gd name="connsiteY9" fmla="*/ 611210 h 6226936"/>
              <a:gd name="connsiteX10" fmla="*/ 1222419 w 1222420"/>
              <a:gd name="connsiteY10" fmla="*/ 5615726 h 6226936"/>
              <a:gd name="connsiteX11" fmla="*/ 611209 w 1222420"/>
              <a:gd name="connsiteY11" fmla="*/ 6226936 h 6226936"/>
              <a:gd name="connsiteX12" fmla="*/ 611210 w 1222420"/>
              <a:gd name="connsiteY12" fmla="*/ 6226935 h 6226936"/>
              <a:gd name="connsiteX13" fmla="*/ 0 w 1222420"/>
              <a:gd name="connsiteY13" fmla="*/ 5615725 h 6226936"/>
              <a:gd name="connsiteX14" fmla="*/ 0 w 1222420"/>
              <a:gd name="connsiteY14" fmla="*/ 611210 h 6226936"/>
              <a:gd name="connsiteX15" fmla="*/ 611210 w 1222420"/>
              <a:gd name="connsiteY15" fmla="*/ 0 h 6226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2420" h="6226936">
                <a:moveTo>
                  <a:pt x="609600" y="199622"/>
                </a:moveTo>
                <a:cubicBezTo>
                  <a:pt x="363023" y="199622"/>
                  <a:pt x="163132" y="399513"/>
                  <a:pt x="163132" y="646090"/>
                </a:cubicBezTo>
                <a:lnTo>
                  <a:pt x="163132" y="5574405"/>
                </a:lnTo>
                <a:cubicBezTo>
                  <a:pt x="163132" y="5820982"/>
                  <a:pt x="363023" y="6020873"/>
                  <a:pt x="609600" y="6020873"/>
                </a:cubicBezTo>
                <a:lnTo>
                  <a:pt x="609599" y="6020874"/>
                </a:lnTo>
                <a:cubicBezTo>
                  <a:pt x="856176" y="6020874"/>
                  <a:pt x="1056067" y="5820983"/>
                  <a:pt x="1056067" y="5574406"/>
                </a:cubicBezTo>
                <a:cubicBezTo>
                  <a:pt x="1056067" y="3931634"/>
                  <a:pt x="1056068" y="2288862"/>
                  <a:pt x="1056068" y="646090"/>
                </a:cubicBezTo>
                <a:cubicBezTo>
                  <a:pt x="1056068" y="399513"/>
                  <a:pt x="856177" y="199622"/>
                  <a:pt x="609600" y="199622"/>
                </a:cubicBezTo>
                <a:close/>
                <a:moveTo>
                  <a:pt x="611210" y="0"/>
                </a:moveTo>
                <a:cubicBezTo>
                  <a:pt x="948772" y="0"/>
                  <a:pt x="1222420" y="273648"/>
                  <a:pt x="1222420" y="611210"/>
                </a:cubicBezTo>
                <a:cubicBezTo>
                  <a:pt x="1222420" y="2279382"/>
                  <a:pt x="1222419" y="3947554"/>
                  <a:pt x="1222419" y="5615726"/>
                </a:cubicBezTo>
                <a:cubicBezTo>
                  <a:pt x="1222419" y="5953288"/>
                  <a:pt x="948771" y="6226936"/>
                  <a:pt x="611209" y="6226936"/>
                </a:cubicBezTo>
                <a:lnTo>
                  <a:pt x="611210" y="6226935"/>
                </a:lnTo>
                <a:cubicBezTo>
                  <a:pt x="273648" y="6226935"/>
                  <a:pt x="0" y="5953287"/>
                  <a:pt x="0" y="5615725"/>
                </a:cubicBezTo>
                <a:lnTo>
                  <a:pt x="0" y="611210"/>
                </a:lnTo>
                <a:cubicBezTo>
                  <a:pt x="0" y="273648"/>
                  <a:pt x="273648" y="0"/>
                  <a:pt x="61121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outerShdw blurRad="127000" dist="38100" dir="2700000" algn="tl" rotWithShape="0">
              <a:prstClr val="black">
                <a:alpha val="5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A9F5BF-03F0-4CB9-A433-5DB82204930D}"/>
              </a:ext>
            </a:extLst>
          </p:cNvPr>
          <p:cNvSpPr/>
          <p:nvPr/>
        </p:nvSpPr>
        <p:spPr>
          <a:xfrm>
            <a:off x="5133205" y="800963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559BA6-31BE-45EF-8A7B-8018810E6DF3}"/>
              </a:ext>
            </a:extLst>
          </p:cNvPr>
          <p:cNvSpPr/>
          <p:nvPr/>
        </p:nvSpPr>
        <p:spPr>
          <a:xfrm>
            <a:off x="5133205" y="2212415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83D6D5-94B5-4889-9A73-3AE5E783F3C2}"/>
              </a:ext>
            </a:extLst>
          </p:cNvPr>
          <p:cNvSpPr/>
          <p:nvPr/>
        </p:nvSpPr>
        <p:spPr>
          <a:xfrm>
            <a:off x="5133205" y="3623867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CDD191-3C03-4952-AF13-40C96A7B9C73}"/>
              </a:ext>
            </a:extLst>
          </p:cNvPr>
          <p:cNvSpPr/>
          <p:nvPr/>
        </p:nvSpPr>
        <p:spPr>
          <a:xfrm>
            <a:off x="5133205" y="5035319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437EEE-2603-4F48-8289-88184901F9DE}"/>
              </a:ext>
            </a:extLst>
          </p:cNvPr>
          <p:cNvSpPr/>
          <p:nvPr/>
        </p:nvSpPr>
        <p:spPr>
          <a:xfrm flipH="1">
            <a:off x="6201546" y="5743891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C02B0C-092D-41B4-BB90-5D0467EF7D4A}"/>
              </a:ext>
            </a:extLst>
          </p:cNvPr>
          <p:cNvSpPr/>
          <p:nvPr/>
        </p:nvSpPr>
        <p:spPr>
          <a:xfrm flipH="1">
            <a:off x="6201546" y="4367623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9CB4C53-12BC-47C8-A2B6-23EA6B536670}"/>
              </a:ext>
            </a:extLst>
          </p:cNvPr>
          <p:cNvSpPr/>
          <p:nvPr/>
        </p:nvSpPr>
        <p:spPr>
          <a:xfrm flipH="1">
            <a:off x="6201546" y="2937398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BFE9EE-64D1-4F5C-B753-028030012F11}"/>
              </a:ext>
            </a:extLst>
          </p:cNvPr>
          <p:cNvSpPr/>
          <p:nvPr/>
        </p:nvSpPr>
        <p:spPr>
          <a:xfrm flipH="1">
            <a:off x="6201546" y="1496640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1E28753-278D-4C3C-B7F3-03DDA838CFA3}"/>
              </a:ext>
            </a:extLst>
          </p:cNvPr>
          <p:cNvGrpSpPr/>
          <p:nvPr/>
        </p:nvGrpSpPr>
        <p:grpSpPr>
          <a:xfrm>
            <a:off x="2590800" y="434610"/>
            <a:ext cx="3505200" cy="1075602"/>
            <a:chOff x="2590800" y="434610"/>
            <a:chExt cx="3505200" cy="1075602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4825843C-03B2-4DDB-BCAC-A073F06C667F}"/>
                </a:ext>
              </a:extLst>
            </p:cNvPr>
            <p:cNvSpPr/>
            <p:nvPr/>
          </p:nvSpPr>
          <p:spPr>
            <a:xfrm flipV="1">
              <a:off x="3474719" y="97241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FD330FF-ADDB-45A7-BC9C-2FBFE99C3252}"/>
                </a:ext>
              </a:extLst>
            </p:cNvPr>
            <p:cNvSpPr/>
            <p:nvPr/>
          </p:nvSpPr>
          <p:spPr>
            <a:xfrm>
              <a:off x="2590800" y="434611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E1B22"/>
                </a:gs>
                <a:gs pos="100000">
                  <a:srgbClr val="F47B2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844BFD-073E-4F72-AB2A-7A9284816F66}"/>
                </a:ext>
              </a:extLst>
            </p:cNvPr>
            <p:cNvSpPr/>
            <p:nvPr/>
          </p:nvSpPr>
          <p:spPr>
            <a:xfrm>
              <a:off x="3466072" y="434610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1D05982-D410-45DD-A74B-1E1E96E3A7FA}"/>
                </a:ext>
              </a:extLst>
            </p:cNvPr>
            <p:cNvSpPr txBox="1"/>
            <p:nvPr/>
          </p:nvSpPr>
          <p:spPr>
            <a:xfrm>
              <a:off x="2755534" y="707844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B7CEB22-5E98-47AF-91C7-C4DDE0A7EF8B}"/>
                </a:ext>
              </a:extLst>
            </p:cNvPr>
            <p:cNvSpPr txBox="1"/>
            <p:nvPr/>
          </p:nvSpPr>
          <p:spPr>
            <a:xfrm>
              <a:off x="3499458" y="554454"/>
              <a:ext cx="1841133" cy="792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Multilingual Support</a:t>
              </a:r>
              <a:endParaRPr lang="en-US" sz="1400" b="1" dirty="0">
                <a:latin typeface="Bebas Neue Bold" panose="020B0606020202050201" pitchFamily="34" charset="0"/>
              </a:endParaRPr>
            </a:p>
            <a:p>
              <a:r>
                <a:rPr lang="en-US" sz="1050" dirty="0"/>
                <a:t>Enable detection of fake news in multiple regional and international languages.</a:t>
              </a:r>
              <a:endParaRPr lang="en-US" sz="1050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62B6AC3-B958-4604-9F42-74D0C2B13A6C}"/>
              </a:ext>
            </a:extLst>
          </p:cNvPr>
          <p:cNvGrpSpPr/>
          <p:nvPr/>
        </p:nvGrpSpPr>
        <p:grpSpPr>
          <a:xfrm>
            <a:off x="6096000" y="1130288"/>
            <a:ext cx="3505200" cy="1075601"/>
            <a:chOff x="6096000" y="1130288"/>
            <a:chExt cx="3505200" cy="107560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8BCACB-31B1-4C1D-81D5-0E3BD74C544F}"/>
                </a:ext>
              </a:extLst>
            </p:cNvPr>
            <p:cNvSpPr/>
            <p:nvPr/>
          </p:nvSpPr>
          <p:spPr>
            <a:xfrm flipH="1" flipV="1">
              <a:off x="6096000" y="1668088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D6910F-A4C9-4881-AEC5-C3C82F75E262}"/>
                </a:ext>
              </a:extLst>
            </p:cNvPr>
            <p:cNvSpPr/>
            <p:nvPr/>
          </p:nvSpPr>
          <p:spPr>
            <a:xfrm flipH="1">
              <a:off x="8717280" y="1130288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A278F"/>
                </a:gs>
                <a:gs pos="100000">
                  <a:srgbClr val="F15FA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9AD72EE-919C-47A3-BE60-36D22FC77DEA}"/>
                </a:ext>
              </a:extLst>
            </p:cNvPr>
            <p:cNvSpPr/>
            <p:nvPr/>
          </p:nvSpPr>
          <p:spPr>
            <a:xfrm flipH="1">
              <a:off x="6103075" y="1140542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28641E-2D93-41AA-A70B-84F27D1AA64B}"/>
                </a:ext>
              </a:extLst>
            </p:cNvPr>
            <p:cNvSpPr txBox="1"/>
            <p:nvPr/>
          </p:nvSpPr>
          <p:spPr>
            <a:xfrm>
              <a:off x="8724356" y="1399188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FC9C08F-868A-4532-8D97-E58A5A9A6B30}"/>
                </a:ext>
              </a:extLst>
            </p:cNvPr>
            <p:cNvSpPr txBox="1"/>
            <p:nvPr/>
          </p:nvSpPr>
          <p:spPr>
            <a:xfrm>
              <a:off x="6823095" y="1155236"/>
              <a:ext cx="1862780" cy="1007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Advanced Transformer Models</a:t>
              </a:r>
              <a:endParaRPr lang="en-US" sz="1400" b="1" dirty="0">
                <a:latin typeface="Bebas Neue Bold" panose="020B0606020202050201" pitchFamily="34" charset="0"/>
              </a:endParaRPr>
            </a:p>
            <a:p>
              <a:r>
                <a:rPr lang="en-US" sz="1050" dirty="0"/>
                <a:t>Integrate newer and more powerful transformer models to improve accuracy.</a:t>
              </a:r>
              <a:endParaRPr lang="en-US" sz="1050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4620E6-E1B0-40F0-9241-6478F3AF4F6C}"/>
              </a:ext>
            </a:extLst>
          </p:cNvPr>
          <p:cNvGrpSpPr/>
          <p:nvPr/>
        </p:nvGrpSpPr>
        <p:grpSpPr>
          <a:xfrm>
            <a:off x="6095999" y="2571046"/>
            <a:ext cx="3505201" cy="1075601"/>
            <a:chOff x="6095999" y="2571046"/>
            <a:chExt cx="3505201" cy="107560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E61EF6-BB9C-4005-9C03-6DA9071F7894}"/>
                </a:ext>
              </a:extLst>
            </p:cNvPr>
            <p:cNvSpPr/>
            <p:nvPr/>
          </p:nvSpPr>
          <p:spPr>
            <a:xfrm flipH="1" flipV="1">
              <a:off x="6096000" y="3108846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C1E1F6-4D1B-47DB-B058-B86B8E9E2834}"/>
                </a:ext>
              </a:extLst>
            </p:cNvPr>
            <p:cNvSpPr/>
            <p:nvPr/>
          </p:nvSpPr>
          <p:spPr>
            <a:xfrm flipH="1">
              <a:off x="8717280" y="2571046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D9"/>
                </a:gs>
                <a:gs pos="100000">
                  <a:srgbClr val="69C6B3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5293AFD-346F-4C85-BEF9-584D4B698EB7}"/>
                </a:ext>
              </a:extLst>
            </p:cNvPr>
            <p:cNvSpPr/>
            <p:nvPr/>
          </p:nvSpPr>
          <p:spPr>
            <a:xfrm flipH="1">
              <a:off x="6095999" y="2571046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1907B8-C3CE-4B76-A34D-18AD8C797065}"/>
                </a:ext>
              </a:extLst>
            </p:cNvPr>
            <p:cNvSpPr txBox="1"/>
            <p:nvPr/>
          </p:nvSpPr>
          <p:spPr>
            <a:xfrm>
              <a:off x="8733358" y="2846609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AF701D5-9F3B-43C9-B5D0-E13445F0CB4E}"/>
                </a:ext>
              </a:extLst>
            </p:cNvPr>
            <p:cNvSpPr txBox="1"/>
            <p:nvPr/>
          </p:nvSpPr>
          <p:spPr>
            <a:xfrm>
              <a:off x="6804314" y="2652795"/>
              <a:ext cx="1966117" cy="792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Enhanced Explainability</a:t>
              </a:r>
            </a:p>
            <a:p>
              <a:r>
                <a:rPr lang="en-US" sz="1050" dirty="0"/>
                <a:t>Give clearer reasons and better visual highlights for fake predictions.</a:t>
              </a:r>
              <a:r>
                <a:rPr lang="en-US" sz="1050" dirty="0">
                  <a:latin typeface="Bahnschrift Condensed" panose="020B0502040204020203" pitchFamily="34" charset="0"/>
                </a:rPr>
                <a:t> 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BDCE9F6-055F-482F-8DCC-387451CFB748}"/>
              </a:ext>
            </a:extLst>
          </p:cNvPr>
          <p:cNvSpPr txBox="1"/>
          <p:nvPr/>
        </p:nvSpPr>
        <p:spPr>
          <a:xfrm>
            <a:off x="7101130" y="37761"/>
            <a:ext cx="4862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ca Majora 3 Bold" panose="00000800000000000000" pitchFamily="50" charset="0"/>
              </a:rPr>
              <a:t>Feature Enhancement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EE4973A-3A8D-497A-AECC-DAB05C86FBDD}"/>
              </a:ext>
            </a:extLst>
          </p:cNvPr>
          <p:cNvGrpSpPr/>
          <p:nvPr/>
        </p:nvGrpSpPr>
        <p:grpSpPr>
          <a:xfrm>
            <a:off x="6096000" y="4001271"/>
            <a:ext cx="3505200" cy="1075601"/>
            <a:chOff x="6096000" y="4001271"/>
            <a:chExt cx="3505200" cy="107560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9279CB-D40E-4594-AE7A-092D7960E521}"/>
                </a:ext>
              </a:extLst>
            </p:cNvPr>
            <p:cNvSpPr/>
            <p:nvPr/>
          </p:nvSpPr>
          <p:spPr>
            <a:xfrm flipH="1" flipV="1">
              <a:off x="6096000" y="453907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F1A4815-CE82-401D-B7CC-A73CC7CB9F58}"/>
                </a:ext>
              </a:extLst>
            </p:cNvPr>
            <p:cNvSpPr/>
            <p:nvPr/>
          </p:nvSpPr>
          <p:spPr>
            <a:xfrm flipH="1">
              <a:off x="8717280" y="4001271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1CE54"/>
                </a:gs>
                <a:gs pos="100000">
                  <a:srgbClr val="CEE02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142DB67-820E-4398-AB49-4E5F59213D69}"/>
                </a:ext>
              </a:extLst>
            </p:cNvPr>
            <p:cNvSpPr/>
            <p:nvPr/>
          </p:nvSpPr>
          <p:spPr>
            <a:xfrm flipH="1">
              <a:off x="6112077" y="4048245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9B4B624-08BE-470E-AD7A-DD04B66B0DAB}"/>
                </a:ext>
              </a:extLst>
            </p:cNvPr>
            <p:cNvSpPr txBox="1"/>
            <p:nvPr/>
          </p:nvSpPr>
          <p:spPr>
            <a:xfrm>
              <a:off x="8724356" y="4270171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06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B580F6E-CDD6-4F87-A1E2-73A68D0925D4}"/>
                </a:ext>
              </a:extLst>
            </p:cNvPr>
            <p:cNvSpPr txBox="1"/>
            <p:nvPr/>
          </p:nvSpPr>
          <p:spPr>
            <a:xfrm>
              <a:off x="6798288" y="4137473"/>
              <a:ext cx="2146732" cy="792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Expanded Fact-Checking </a:t>
              </a:r>
              <a:r>
                <a:rPr lang="en-US" sz="1050" dirty="0"/>
                <a:t>Integrate more trusted APIs to improve verification reliability.</a:t>
              </a:r>
            </a:p>
            <a:p>
              <a:pPr algn="r"/>
              <a:endParaRPr lang="en-US" sz="1050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657D9F9-BB75-48AA-A23B-E2ED84AEECF3}"/>
              </a:ext>
            </a:extLst>
          </p:cNvPr>
          <p:cNvGrpSpPr/>
          <p:nvPr/>
        </p:nvGrpSpPr>
        <p:grpSpPr>
          <a:xfrm>
            <a:off x="6095999" y="5377539"/>
            <a:ext cx="3505201" cy="1075601"/>
            <a:chOff x="6095999" y="5377539"/>
            <a:chExt cx="3505201" cy="107560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5D6E32-4D14-46D5-A727-C52DCC4C3EBD}"/>
                </a:ext>
              </a:extLst>
            </p:cNvPr>
            <p:cNvSpPr/>
            <p:nvPr/>
          </p:nvSpPr>
          <p:spPr>
            <a:xfrm flipH="1" flipV="1">
              <a:off x="6096000" y="5915339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F4E106-A902-4D65-B87F-9D316A5D7FEA}"/>
                </a:ext>
              </a:extLst>
            </p:cNvPr>
            <p:cNvSpPr/>
            <p:nvPr/>
          </p:nvSpPr>
          <p:spPr>
            <a:xfrm flipH="1">
              <a:off x="8717280" y="5377539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10F53"/>
                </a:gs>
                <a:gs pos="100000">
                  <a:srgbClr val="FE478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A7F6050-491D-43DA-B1BA-183816B3899F}"/>
                </a:ext>
              </a:extLst>
            </p:cNvPr>
            <p:cNvSpPr/>
            <p:nvPr/>
          </p:nvSpPr>
          <p:spPr>
            <a:xfrm flipH="1">
              <a:off x="6095999" y="5377539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F2B263-5758-4CD6-8AE2-C2C89BF6F7FF}"/>
                </a:ext>
              </a:extLst>
            </p:cNvPr>
            <p:cNvSpPr txBox="1"/>
            <p:nvPr/>
          </p:nvSpPr>
          <p:spPr>
            <a:xfrm>
              <a:off x="8733358" y="5622951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67269EA-DA29-45B6-AD3A-DEF2622499FF}"/>
                </a:ext>
              </a:extLst>
            </p:cNvPr>
            <p:cNvSpPr txBox="1"/>
            <p:nvPr/>
          </p:nvSpPr>
          <p:spPr>
            <a:xfrm>
              <a:off x="6743124" y="5377539"/>
              <a:ext cx="2027307" cy="1007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Continuous Model Training</a:t>
              </a:r>
            </a:p>
            <a:p>
              <a:r>
                <a:rPr lang="en-US" sz="1050" dirty="0"/>
                <a:t>Regularly retrain the model with updated datasets to maintain accuracy.</a:t>
              </a:r>
              <a:r>
                <a:rPr lang="en-US" sz="1050" dirty="0">
                  <a:latin typeface="Bahnschrift Condensed" panose="020B0502040204020203" pitchFamily="34" charset="0"/>
                </a:rPr>
                <a:t>.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E76ABA-1DCC-49EC-8B69-5A4687FB10DE}"/>
              </a:ext>
            </a:extLst>
          </p:cNvPr>
          <p:cNvGrpSpPr/>
          <p:nvPr/>
        </p:nvGrpSpPr>
        <p:grpSpPr>
          <a:xfrm>
            <a:off x="2590800" y="1830419"/>
            <a:ext cx="3505201" cy="1091245"/>
            <a:chOff x="2590800" y="1830419"/>
            <a:chExt cx="3505201" cy="109124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EEC09C0-BA0C-493D-A21A-C49CED20A36F}"/>
                </a:ext>
              </a:extLst>
            </p:cNvPr>
            <p:cNvSpPr/>
            <p:nvPr/>
          </p:nvSpPr>
          <p:spPr>
            <a:xfrm flipV="1">
              <a:off x="3474719" y="2383863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5F02C0B-752D-4058-9CC9-34A830DE56D9}"/>
                </a:ext>
              </a:extLst>
            </p:cNvPr>
            <p:cNvSpPr/>
            <p:nvPr/>
          </p:nvSpPr>
          <p:spPr>
            <a:xfrm>
              <a:off x="2590800" y="1830419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94AA6"/>
                </a:gs>
                <a:gs pos="100000">
                  <a:srgbClr val="9071B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479D8B-173D-43D8-82AF-9AFBF756321B}"/>
                </a:ext>
              </a:extLst>
            </p:cNvPr>
            <p:cNvSpPr/>
            <p:nvPr/>
          </p:nvSpPr>
          <p:spPr>
            <a:xfrm>
              <a:off x="3474720" y="1846063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4A5BFE-1B36-4518-81F9-837CDFA64E17}"/>
                </a:ext>
              </a:extLst>
            </p:cNvPr>
            <p:cNvSpPr txBox="1"/>
            <p:nvPr/>
          </p:nvSpPr>
          <p:spPr>
            <a:xfrm>
              <a:off x="2774791" y="2114963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47AFDC5-B8D9-4BB7-BAA6-707ECF6313E6}"/>
                </a:ext>
              </a:extLst>
            </p:cNvPr>
            <p:cNvSpPr txBox="1"/>
            <p:nvPr/>
          </p:nvSpPr>
          <p:spPr>
            <a:xfrm>
              <a:off x="3538330" y="1930296"/>
              <a:ext cx="190032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Real-Time Detection</a:t>
              </a:r>
              <a:endParaRPr lang="en-US" sz="1400" b="1" dirty="0">
                <a:latin typeface="Bebas Neue Bold" panose="020B0606020202050201" pitchFamily="34" charset="0"/>
              </a:endParaRPr>
            </a:p>
            <a:p>
              <a:r>
                <a:rPr lang="en-IN" sz="1050" dirty="0"/>
                <a:t>Provide instant verification using browser extensions or mobile apps.</a:t>
              </a:r>
            </a:p>
            <a:p>
              <a:r>
                <a:rPr lang="en-US" sz="1050" dirty="0">
                  <a:latin typeface="Bahnschrift Condensed" panose="020B0502040204020203" pitchFamily="34" charset="0"/>
                </a:rPr>
                <a:t>. 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4CD189C-80A3-4153-91C2-2DEACCA67483}"/>
              </a:ext>
            </a:extLst>
          </p:cNvPr>
          <p:cNvGrpSpPr/>
          <p:nvPr/>
        </p:nvGrpSpPr>
        <p:grpSpPr>
          <a:xfrm>
            <a:off x="2590800" y="3257515"/>
            <a:ext cx="3505201" cy="1075601"/>
            <a:chOff x="2590800" y="3257515"/>
            <a:chExt cx="3505201" cy="107560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5BF44A0-43CF-49BA-9EE6-EDDD5A6120FF}"/>
                </a:ext>
              </a:extLst>
            </p:cNvPr>
            <p:cNvSpPr/>
            <p:nvPr/>
          </p:nvSpPr>
          <p:spPr>
            <a:xfrm flipV="1">
              <a:off x="3474719" y="3795315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EDFFDD5-F9E0-42F5-B15C-728120CE1021}"/>
                </a:ext>
              </a:extLst>
            </p:cNvPr>
            <p:cNvSpPr/>
            <p:nvPr/>
          </p:nvSpPr>
          <p:spPr>
            <a:xfrm>
              <a:off x="2590800" y="3257515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A567"/>
                </a:gs>
                <a:gs pos="100000">
                  <a:srgbClr val="A2CD4A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B5E7695-57A6-4198-88E6-F8B61A1DA6F4}"/>
                </a:ext>
              </a:extLst>
            </p:cNvPr>
            <p:cNvSpPr/>
            <p:nvPr/>
          </p:nvSpPr>
          <p:spPr>
            <a:xfrm>
              <a:off x="3474720" y="3257515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515622D-C95D-413A-AF4A-8F4ED2CB04B3}"/>
                </a:ext>
              </a:extLst>
            </p:cNvPr>
            <p:cNvSpPr txBox="1"/>
            <p:nvPr/>
          </p:nvSpPr>
          <p:spPr>
            <a:xfrm>
              <a:off x="2752429" y="3525206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05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2551E6-7DE2-46E4-8340-DB2EA6C85D4D}"/>
                </a:ext>
              </a:extLst>
            </p:cNvPr>
            <p:cNvSpPr txBox="1"/>
            <p:nvPr/>
          </p:nvSpPr>
          <p:spPr>
            <a:xfrm>
              <a:off x="3558176" y="3362089"/>
              <a:ext cx="1686059" cy="792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Cloud Deployment</a:t>
              </a:r>
              <a:endParaRPr lang="en-US" sz="1400" b="1" dirty="0">
                <a:latin typeface="Bebas Neue Bold" panose="020B0606020202050201" pitchFamily="34" charset="0"/>
              </a:endParaRPr>
            </a:p>
            <a:p>
              <a:r>
                <a:rPr lang="en-US" sz="1050" dirty="0"/>
                <a:t>Deploy the system on cloud platforms for scalability and high performance.</a:t>
              </a:r>
              <a:endParaRPr lang="en-US" sz="1050" dirty="0"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9E551E-CD0A-4D5F-BC04-7A310D3C298F}"/>
              </a:ext>
            </a:extLst>
          </p:cNvPr>
          <p:cNvGrpSpPr/>
          <p:nvPr/>
        </p:nvGrpSpPr>
        <p:grpSpPr>
          <a:xfrm>
            <a:off x="2590800" y="4668967"/>
            <a:ext cx="3505201" cy="1212941"/>
            <a:chOff x="2590800" y="4668967"/>
            <a:chExt cx="3505201" cy="121294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14F597-73DA-42D7-A6FA-604E6DDCAF0B}"/>
                </a:ext>
              </a:extLst>
            </p:cNvPr>
            <p:cNvSpPr/>
            <p:nvPr/>
          </p:nvSpPr>
          <p:spPr>
            <a:xfrm>
              <a:off x="2590800" y="4668967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25B45"/>
                </a:gs>
                <a:gs pos="100000">
                  <a:srgbClr val="FED3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9229826-26E7-47FA-9357-E38D07515416}"/>
                </a:ext>
              </a:extLst>
            </p:cNvPr>
            <p:cNvGrpSpPr/>
            <p:nvPr/>
          </p:nvGrpSpPr>
          <p:grpSpPr>
            <a:xfrm>
              <a:off x="2774791" y="4668967"/>
              <a:ext cx="3321210" cy="1212941"/>
              <a:chOff x="2774791" y="4668967"/>
              <a:chExt cx="3321210" cy="1212941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119DBF6-8F68-4D33-B965-90BE47DED9B9}"/>
                  </a:ext>
                </a:extLst>
              </p:cNvPr>
              <p:cNvSpPr/>
              <p:nvPr/>
            </p:nvSpPr>
            <p:spPr>
              <a:xfrm flipV="1">
                <a:off x="3474719" y="5206767"/>
                <a:ext cx="2621281" cy="537801"/>
              </a:xfrm>
              <a:custGeom>
                <a:avLst/>
                <a:gdLst>
                  <a:gd name="connsiteX0" fmla="*/ 0 w 2621281"/>
                  <a:gd name="connsiteY0" fmla="*/ 0 h 537801"/>
                  <a:gd name="connsiteX1" fmla="*/ 2083480 w 2621281"/>
                  <a:gd name="connsiteY1" fmla="*/ 0 h 537801"/>
                  <a:gd name="connsiteX2" fmla="*/ 2621281 w 2621281"/>
                  <a:gd name="connsiteY2" fmla="*/ 537801 h 537801"/>
                  <a:gd name="connsiteX3" fmla="*/ 2621280 w 2621281"/>
                  <a:gd name="connsiteY3" fmla="*/ 537801 h 537801"/>
                  <a:gd name="connsiteX4" fmla="*/ 2331720 w 2621281"/>
                  <a:gd name="connsiteY4" fmla="*/ 537801 h 537801"/>
                  <a:gd name="connsiteX5" fmla="*/ 2331720 w 2621281"/>
                  <a:gd name="connsiteY5" fmla="*/ 451779 h 537801"/>
                  <a:gd name="connsiteX6" fmla="*/ 1836420 w 2621281"/>
                  <a:gd name="connsiteY6" fmla="*/ 451779 h 537801"/>
                  <a:gd name="connsiteX7" fmla="*/ 1836420 w 2621281"/>
                  <a:gd name="connsiteY7" fmla="*/ 537801 h 537801"/>
                  <a:gd name="connsiteX8" fmla="*/ 0 w 2621281"/>
                  <a:gd name="connsiteY8" fmla="*/ 537801 h 537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1281" h="537801">
                    <a:moveTo>
                      <a:pt x="0" y="0"/>
                    </a:moveTo>
                    <a:lnTo>
                      <a:pt x="2083480" y="0"/>
                    </a:lnTo>
                    <a:cubicBezTo>
                      <a:pt x="2380499" y="0"/>
                      <a:pt x="2621281" y="240782"/>
                      <a:pt x="2621281" y="537801"/>
                    </a:cubicBezTo>
                    <a:lnTo>
                      <a:pt x="2621280" y="537801"/>
                    </a:lnTo>
                    <a:lnTo>
                      <a:pt x="2331720" y="537801"/>
                    </a:lnTo>
                    <a:lnTo>
                      <a:pt x="2331720" y="451779"/>
                    </a:lnTo>
                    <a:lnTo>
                      <a:pt x="1836420" y="451779"/>
                    </a:lnTo>
                    <a:lnTo>
                      <a:pt x="1836420" y="537801"/>
                    </a:lnTo>
                    <a:lnTo>
                      <a:pt x="0" y="53780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4DF0BC7-74A3-47A7-899C-50A0E9C22EB7}"/>
                  </a:ext>
                </a:extLst>
              </p:cNvPr>
              <p:cNvSpPr/>
              <p:nvPr/>
            </p:nvSpPr>
            <p:spPr>
              <a:xfrm>
                <a:off x="3474720" y="4668967"/>
                <a:ext cx="2621281" cy="537801"/>
              </a:xfrm>
              <a:custGeom>
                <a:avLst/>
                <a:gdLst>
                  <a:gd name="connsiteX0" fmla="*/ 0 w 2621281"/>
                  <a:gd name="connsiteY0" fmla="*/ 0 h 537801"/>
                  <a:gd name="connsiteX1" fmla="*/ 2083480 w 2621281"/>
                  <a:gd name="connsiteY1" fmla="*/ 0 h 537801"/>
                  <a:gd name="connsiteX2" fmla="*/ 2621281 w 2621281"/>
                  <a:gd name="connsiteY2" fmla="*/ 537801 h 537801"/>
                  <a:gd name="connsiteX3" fmla="*/ 2621280 w 2621281"/>
                  <a:gd name="connsiteY3" fmla="*/ 537801 h 537801"/>
                  <a:gd name="connsiteX4" fmla="*/ 2331720 w 2621281"/>
                  <a:gd name="connsiteY4" fmla="*/ 537801 h 537801"/>
                  <a:gd name="connsiteX5" fmla="*/ 2331720 w 2621281"/>
                  <a:gd name="connsiteY5" fmla="*/ 451779 h 537801"/>
                  <a:gd name="connsiteX6" fmla="*/ 1836420 w 2621281"/>
                  <a:gd name="connsiteY6" fmla="*/ 451779 h 537801"/>
                  <a:gd name="connsiteX7" fmla="*/ 1836420 w 2621281"/>
                  <a:gd name="connsiteY7" fmla="*/ 537801 h 537801"/>
                  <a:gd name="connsiteX8" fmla="*/ 0 w 2621281"/>
                  <a:gd name="connsiteY8" fmla="*/ 537801 h 537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1281" h="537801">
                    <a:moveTo>
                      <a:pt x="0" y="0"/>
                    </a:moveTo>
                    <a:lnTo>
                      <a:pt x="2083480" y="0"/>
                    </a:lnTo>
                    <a:cubicBezTo>
                      <a:pt x="2380499" y="0"/>
                      <a:pt x="2621281" y="240782"/>
                      <a:pt x="2621281" y="537801"/>
                    </a:cubicBezTo>
                    <a:lnTo>
                      <a:pt x="2621280" y="537801"/>
                    </a:lnTo>
                    <a:lnTo>
                      <a:pt x="2331720" y="537801"/>
                    </a:lnTo>
                    <a:lnTo>
                      <a:pt x="2331720" y="451779"/>
                    </a:lnTo>
                    <a:lnTo>
                      <a:pt x="1836420" y="451779"/>
                    </a:lnTo>
                    <a:lnTo>
                      <a:pt x="1836420" y="537801"/>
                    </a:lnTo>
                    <a:lnTo>
                      <a:pt x="0" y="53780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38837CB-25EB-47EF-8CA9-F2D8F0DBD09B}"/>
                  </a:ext>
                </a:extLst>
              </p:cNvPr>
              <p:cNvSpPr txBox="1"/>
              <p:nvPr/>
            </p:nvSpPr>
            <p:spPr>
              <a:xfrm>
                <a:off x="2774791" y="4955352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Arca Majora 3 Bold" panose="00000800000000000000" pitchFamily="50" charset="0"/>
                  </a:rPr>
                  <a:t>07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B0C7484-E41B-4690-B1A8-80C576FFCCF0}"/>
                  </a:ext>
                </a:extLst>
              </p:cNvPr>
              <p:cNvSpPr txBox="1"/>
              <p:nvPr/>
            </p:nvSpPr>
            <p:spPr>
              <a:xfrm>
                <a:off x="3419319" y="4712357"/>
                <a:ext cx="206000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Performance Optimization</a:t>
                </a:r>
                <a:endParaRPr lang="en-US" sz="1400" b="1" dirty="0">
                  <a:latin typeface="Bebas Neue Bold" panose="020B0606020202050201" pitchFamily="34" charset="0"/>
                </a:endParaRPr>
              </a:p>
              <a:p>
                <a:r>
                  <a:rPr lang="en-US" sz="1050" dirty="0"/>
                  <a:t>Reduce response time and improve system efficiency for large data handling.</a:t>
                </a:r>
              </a:p>
              <a:p>
                <a:pPr algn="just"/>
                <a:endParaRPr lang="en-US" sz="1050" dirty="0">
                  <a:latin typeface="Bahnschrift Condensed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363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elogram 21">
            <a:extLst>
              <a:ext uri="{FF2B5EF4-FFF2-40B4-BE49-F238E27FC236}">
                <a16:creationId xmlns:a16="http://schemas.microsoft.com/office/drawing/2014/main" id="{51F74652-877E-4B22-8070-3C95880A4DB2}"/>
              </a:ext>
            </a:extLst>
          </p:cNvPr>
          <p:cNvSpPr/>
          <p:nvPr/>
        </p:nvSpPr>
        <p:spPr>
          <a:xfrm>
            <a:off x="5915026" y="452461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275A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594120A3-91BA-4131-8822-38FBA5969980}"/>
              </a:ext>
            </a:extLst>
          </p:cNvPr>
          <p:cNvSpPr/>
          <p:nvPr/>
        </p:nvSpPr>
        <p:spPr>
          <a:xfrm>
            <a:off x="7502528" y="2439602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018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6943935A-9654-43A1-96BD-903FB97F9B5A}"/>
              </a:ext>
            </a:extLst>
          </p:cNvPr>
          <p:cNvSpPr/>
          <p:nvPr/>
        </p:nvSpPr>
        <p:spPr>
          <a:xfrm>
            <a:off x="4505328" y="2439602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619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263391E0-F129-4D88-9A49-EE948707DB71}"/>
              </a:ext>
            </a:extLst>
          </p:cNvPr>
          <p:cNvSpPr/>
          <p:nvPr/>
        </p:nvSpPr>
        <p:spPr>
          <a:xfrm>
            <a:off x="4988659" y="4457067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B0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F0E61F12-FDBE-4865-B611-D5415EE1EC18}"/>
              </a:ext>
            </a:extLst>
          </p:cNvPr>
          <p:cNvSpPr/>
          <p:nvPr/>
        </p:nvSpPr>
        <p:spPr>
          <a:xfrm>
            <a:off x="2324100" y="452461"/>
            <a:ext cx="1390649" cy="273243"/>
          </a:xfrm>
          <a:prstGeom prst="parallelogram">
            <a:avLst>
              <a:gd name="adj" fmla="val 65087"/>
            </a:avLst>
          </a:prstGeom>
          <a:solidFill>
            <a:srgbClr val="35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E9F474-9E9D-4C28-802B-E019701B7F62}"/>
              </a:ext>
            </a:extLst>
          </p:cNvPr>
          <p:cNvSpPr/>
          <p:nvPr/>
        </p:nvSpPr>
        <p:spPr>
          <a:xfrm>
            <a:off x="0" y="625090"/>
            <a:ext cx="12192000" cy="5739390"/>
          </a:xfrm>
          <a:custGeom>
            <a:avLst/>
            <a:gdLst>
              <a:gd name="connsiteX0" fmla="*/ 0 w 12192000"/>
              <a:gd name="connsiteY0" fmla="*/ 0 h 5739390"/>
              <a:gd name="connsiteX1" fmla="*/ 9070268 w 12192000"/>
              <a:gd name="connsiteY1" fmla="*/ 0 h 5739390"/>
              <a:gd name="connsiteX2" fmla="*/ 10938948 w 12192000"/>
              <a:gd name="connsiteY2" fmla="*/ 1868680 h 5739390"/>
              <a:gd name="connsiteX3" fmla="*/ 9070268 w 12192000"/>
              <a:gd name="connsiteY3" fmla="*/ 3737360 h 5739390"/>
              <a:gd name="connsiteX4" fmla="*/ 5329998 w 12192000"/>
              <a:gd name="connsiteY4" fmla="*/ 3737360 h 5739390"/>
              <a:gd name="connsiteX5" fmla="*/ 5311141 w 12192000"/>
              <a:gd name="connsiteY5" fmla="*/ 3733553 h 5739390"/>
              <a:gd name="connsiteX6" fmla="*/ 3101339 w 12192000"/>
              <a:gd name="connsiteY6" fmla="*/ 3733553 h 5739390"/>
              <a:gd name="connsiteX7" fmla="*/ 2967990 w 12192000"/>
              <a:gd name="connsiteY7" fmla="*/ 3866902 h 5739390"/>
              <a:gd name="connsiteX8" fmla="*/ 3101339 w 12192000"/>
              <a:gd name="connsiteY8" fmla="*/ 4000251 h 5739390"/>
              <a:gd name="connsiteX9" fmla="*/ 3121735 w 12192000"/>
              <a:gd name="connsiteY9" fmla="*/ 4000251 h 5739390"/>
              <a:gd name="connsiteX10" fmla="*/ 3121735 w 12192000"/>
              <a:gd name="connsiteY10" fmla="*/ 4004060 h 5739390"/>
              <a:gd name="connsiteX11" fmla="*/ 12192000 w 12192000"/>
              <a:gd name="connsiteY11" fmla="*/ 4004060 h 5739390"/>
              <a:gd name="connsiteX12" fmla="*/ 12192000 w 12192000"/>
              <a:gd name="connsiteY12" fmla="*/ 5739390 h 5739390"/>
              <a:gd name="connsiteX13" fmla="*/ 3121735 w 12192000"/>
              <a:gd name="connsiteY13" fmla="*/ 5739390 h 5739390"/>
              <a:gd name="connsiteX14" fmla="*/ 1253055 w 12192000"/>
              <a:gd name="connsiteY14" fmla="*/ 3870710 h 5739390"/>
              <a:gd name="connsiteX15" fmla="*/ 2930673 w 12192000"/>
              <a:gd name="connsiteY15" fmla="*/ 2011678 h 5739390"/>
              <a:gd name="connsiteX16" fmla="*/ 3121734 w 12192000"/>
              <a:gd name="connsiteY16" fmla="*/ 2002030 h 5739390"/>
              <a:gd name="connsiteX17" fmla="*/ 3121735 w 12192000"/>
              <a:gd name="connsiteY17" fmla="*/ 2002030 h 5739390"/>
              <a:gd name="connsiteX18" fmla="*/ 6849178 w 12192000"/>
              <a:gd name="connsiteY18" fmla="*/ 2002030 h 5739390"/>
              <a:gd name="connsiteX19" fmla="*/ 6857999 w 12192000"/>
              <a:gd name="connsiteY19" fmla="*/ 2003811 h 5739390"/>
              <a:gd name="connsiteX20" fmla="*/ 9067801 w 12192000"/>
              <a:gd name="connsiteY20" fmla="*/ 2003811 h 5739390"/>
              <a:gd name="connsiteX21" fmla="*/ 9201150 w 12192000"/>
              <a:gd name="connsiteY21" fmla="*/ 1870462 h 5739390"/>
              <a:gd name="connsiteX22" fmla="*/ 9119707 w 12192000"/>
              <a:gd name="connsiteY22" fmla="*/ 1747592 h 5739390"/>
              <a:gd name="connsiteX23" fmla="*/ 9070268 w 12192000"/>
              <a:gd name="connsiteY23" fmla="*/ 1737611 h 5739390"/>
              <a:gd name="connsiteX24" fmla="*/ 9070268 w 12192000"/>
              <a:gd name="connsiteY24" fmla="*/ 1735330 h 5739390"/>
              <a:gd name="connsiteX25" fmla="*/ 0 w 12192000"/>
              <a:gd name="connsiteY25" fmla="*/ 1735330 h 573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5739390">
                <a:moveTo>
                  <a:pt x="0" y="0"/>
                </a:moveTo>
                <a:lnTo>
                  <a:pt x="9070268" y="0"/>
                </a:lnTo>
                <a:cubicBezTo>
                  <a:pt x="10102311" y="0"/>
                  <a:pt x="10938948" y="836637"/>
                  <a:pt x="10938948" y="1868680"/>
                </a:cubicBezTo>
                <a:cubicBezTo>
                  <a:pt x="10938948" y="2900723"/>
                  <a:pt x="10102311" y="3737360"/>
                  <a:pt x="9070268" y="3737360"/>
                </a:cubicBezTo>
                <a:lnTo>
                  <a:pt x="5329998" y="3737360"/>
                </a:lnTo>
                <a:lnTo>
                  <a:pt x="5311141" y="3733553"/>
                </a:lnTo>
                <a:lnTo>
                  <a:pt x="3101339" y="3733553"/>
                </a:lnTo>
                <a:cubicBezTo>
                  <a:pt x="3027692" y="3733553"/>
                  <a:pt x="2967990" y="3793255"/>
                  <a:pt x="2967990" y="3866902"/>
                </a:cubicBezTo>
                <a:cubicBezTo>
                  <a:pt x="2967990" y="3940549"/>
                  <a:pt x="3027692" y="4000251"/>
                  <a:pt x="3101339" y="4000251"/>
                </a:cubicBezTo>
                <a:lnTo>
                  <a:pt x="3121735" y="4000251"/>
                </a:lnTo>
                <a:lnTo>
                  <a:pt x="3121735" y="4004060"/>
                </a:lnTo>
                <a:lnTo>
                  <a:pt x="12192000" y="4004060"/>
                </a:lnTo>
                <a:lnTo>
                  <a:pt x="12192000" y="5739390"/>
                </a:lnTo>
                <a:lnTo>
                  <a:pt x="3121735" y="5739390"/>
                </a:lnTo>
                <a:cubicBezTo>
                  <a:pt x="2089692" y="5739390"/>
                  <a:pt x="1253055" y="4902753"/>
                  <a:pt x="1253055" y="3870710"/>
                </a:cubicBezTo>
                <a:cubicBezTo>
                  <a:pt x="1253055" y="2903170"/>
                  <a:pt x="1988380" y="2107373"/>
                  <a:pt x="2930673" y="2011678"/>
                </a:cubicBezTo>
                <a:lnTo>
                  <a:pt x="3121734" y="2002030"/>
                </a:lnTo>
                <a:lnTo>
                  <a:pt x="3121735" y="2002030"/>
                </a:lnTo>
                <a:lnTo>
                  <a:pt x="6849178" y="2002030"/>
                </a:lnTo>
                <a:lnTo>
                  <a:pt x="6857999" y="2003811"/>
                </a:lnTo>
                <a:lnTo>
                  <a:pt x="9067801" y="2003811"/>
                </a:lnTo>
                <a:cubicBezTo>
                  <a:pt x="9141448" y="2003811"/>
                  <a:pt x="9201150" y="1944109"/>
                  <a:pt x="9201150" y="1870462"/>
                </a:cubicBezTo>
                <a:cubicBezTo>
                  <a:pt x="9201150" y="1815227"/>
                  <a:pt x="9167568" y="1767836"/>
                  <a:pt x="9119707" y="1747592"/>
                </a:cubicBezTo>
                <a:lnTo>
                  <a:pt x="9070268" y="1737611"/>
                </a:lnTo>
                <a:lnTo>
                  <a:pt x="9070268" y="1735330"/>
                </a:lnTo>
                <a:lnTo>
                  <a:pt x="0" y="17353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65100" sx="102000" sy="102000" algn="ctr" rotWithShape="0">
              <a:prstClr val="black">
                <a:alpha val="20000"/>
              </a:prstClr>
            </a:outerShdw>
            <a:reflection blurRad="127000" stA="52000" endA="300" endPos="1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442527F7-383D-4F3E-857C-BF57A9063F50}"/>
              </a:ext>
            </a:extLst>
          </p:cNvPr>
          <p:cNvSpPr/>
          <p:nvPr/>
        </p:nvSpPr>
        <p:spPr>
          <a:xfrm>
            <a:off x="8176046" y="1543230"/>
            <a:ext cx="1916860" cy="1916860"/>
          </a:xfrm>
          <a:prstGeom prst="arc">
            <a:avLst>
              <a:gd name="adj1" fmla="val 16200000"/>
              <a:gd name="adj2" fmla="val 5573239"/>
            </a:avLst>
          </a:prstGeom>
          <a:ln>
            <a:solidFill>
              <a:schemeClr val="bg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13D7527C-0B85-47D6-ADD7-5531E792C391}"/>
              </a:ext>
            </a:extLst>
          </p:cNvPr>
          <p:cNvSpPr/>
          <p:nvPr/>
        </p:nvSpPr>
        <p:spPr>
          <a:xfrm flipH="1">
            <a:off x="2127434" y="3568927"/>
            <a:ext cx="1916860" cy="1916860"/>
          </a:xfrm>
          <a:prstGeom prst="arc">
            <a:avLst>
              <a:gd name="adj1" fmla="val 16200000"/>
              <a:gd name="adj2" fmla="val 5573239"/>
            </a:avLst>
          </a:prstGeom>
          <a:ln>
            <a:solidFill>
              <a:schemeClr val="bg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9A4DFE-0FA2-409C-A97C-D15C9DB3DA3C}"/>
              </a:ext>
            </a:extLst>
          </p:cNvPr>
          <p:cNvSpPr txBox="1"/>
          <p:nvPr/>
        </p:nvSpPr>
        <p:spPr>
          <a:xfrm>
            <a:off x="0" y="1148246"/>
            <a:ext cx="2295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CONCLUSION</a:t>
            </a:r>
            <a:endParaRPr lang="en-IN" sz="2800" b="1" spc="3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008F38-151F-4C00-8186-352985F7DEBB}"/>
              </a:ext>
            </a:extLst>
          </p:cNvPr>
          <p:cNvGrpSpPr/>
          <p:nvPr/>
        </p:nvGrpSpPr>
        <p:grpSpPr>
          <a:xfrm>
            <a:off x="5169633" y="4463641"/>
            <a:ext cx="3812820" cy="1814512"/>
            <a:chOff x="5169633" y="4463641"/>
            <a:chExt cx="3812820" cy="1814512"/>
          </a:xfrm>
        </p:grpSpPr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FEC6A14F-2CC2-4FE3-BA30-0AEBDD0E59B5}"/>
                </a:ext>
              </a:extLst>
            </p:cNvPr>
            <p:cNvSpPr/>
            <p:nvPr/>
          </p:nvSpPr>
          <p:spPr>
            <a:xfrm rot="10800000">
              <a:off x="5169633" y="4463641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FF1262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A0D0894-4556-4630-B3BC-222B894C2013}"/>
                </a:ext>
              </a:extLst>
            </p:cNvPr>
            <p:cNvGrpSpPr/>
            <p:nvPr/>
          </p:nvGrpSpPr>
          <p:grpSpPr>
            <a:xfrm>
              <a:off x="5200652" y="4557681"/>
              <a:ext cx="3781801" cy="1574840"/>
              <a:chOff x="5200652" y="4557681"/>
              <a:chExt cx="3781801" cy="1574840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91546CB-D96C-47D7-A5D2-B7E6994A6C30}"/>
                  </a:ext>
                </a:extLst>
              </p:cNvPr>
              <p:cNvSpPr txBox="1"/>
              <p:nvPr/>
            </p:nvSpPr>
            <p:spPr>
              <a:xfrm>
                <a:off x="5200652" y="4557681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spc="300" dirty="0">
                  <a:solidFill>
                    <a:schemeClr val="bg1"/>
                  </a:solidFill>
                  <a:effectLst>
                    <a:outerShdw blurRad="177800" dist="38100" dir="2700000" algn="tl" rotWithShape="0">
                      <a:prstClr val="black">
                        <a:alpha val="58000"/>
                      </a:prstClr>
                    </a:outerShdw>
                  </a:effectLst>
                  <a:latin typeface="Pangram" panose="00000500000000000000" pitchFamily="50" charset="0"/>
                </a:endParaRP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5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256C0C2-5A75-459F-824A-1A689B5E14F0}"/>
                  </a:ext>
                </a:extLst>
              </p:cNvPr>
              <p:cNvSpPr txBox="1"/>
              <p:nvPr/>
            </p:nvSpPr>
            <p:spPr>
              <a:xfrm>
                <a:off x="6662600" y="4747526"/>
                <a:ext cx="231985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project provides practical, hands-on experience with modern AI technologies applied to large-scale, real-world challenges.</a:t>
                </a:r>
                <a:endParaRPr lang="en-IN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158A2DE-E3A7-49A7-BE38-9F6BF42ED308}"/>
              </a:ext>
            </a:extLst>
          </p:cNvPr>
          <p:cNvGrpSpPr/>
          <p:nvPr/>
        </p:nvGrpSpPr>
        <p:grpSpPr>
          <a:xfrm>
            <a:off x="6096000" y="452438"/>
            <a:ext cx="3409952" cy="1814512"/>
            <a:chOff x="6096000" y="452438"/>
            <a:chExt cx="3267790" cy="1814512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E7DFCA49-045E-4EBA-A38C-8A025B56D9E5}"/>
                </a:ext>
              </a:extLst>
            </p:cNvPr>
            <p:cNvSpPr/>
            <p:nvPr/>
          </p:nvSpPr>
          <p:spPr>
            <a:xfrm rot="10800000">
              <a:off x="6096000" y="452438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4497BF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C340463-8D96-4ECF-A783-714186DF75EC}"/>
                </a:ext>
              </a:extLst>
            </p:cNvPr>
            <p:cNvGrpSpPr/>
            <p:nvPr/>
          </p:nvGrpSpPr>
          <p:grpSpPr>
            <a:xfrm>
              <a:off x="6149502" y="500575"/>
              <a:ext cx="3214288" cy="1659006"/>
              <a:chOff x="6149502" y="500575"/>
              <a:chExt cx="3214288" cy="165900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62BB66-FDF4-4C13-AC21-200EECBB753F}"/>
                  </a:ext>
                </a:extLst>
              </p:cNvPr>
              <p:cNvSpPr txBox="1"/>
              <p:nvPr/>
            </p:nvSpPr>
            <p:spPr>
              <a:xfrm>
                <a:off x="6149502" y="500575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spc="300" dirty="0">
                  <a:solidFill>
                    <a:schemeClr val="bg1"/>
                  </a:solidFill>
                  <a:effectLst>
                    <a:outerShdw blurRad="177800" dist="38100" dir="2700000" algn="tl" rotWithShape="0">
                      <a:prstClr val="black">
                        <a:alpha val="58000"/>
                      </a:prstClr>
                    </a:outerShdw>
                  </a:effectLst>
                  <a:latin typeface="Pangram" panose="00000500000000000000" pitchFamily="50" charset="0"/>
                </a:endParaRP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2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C24127-ED21-4C59-923C-E3C52468BCAC}"/>
                  </a:ext>
                </a:extLst>
              </p:cNvPr>
              <p:cNvSpPr txBox="1"/>
              <p:nvPr/>
            </p:nvSpPr>
            <p:spPr>
              <a:xfrm>
                <a:off x="7502528" y="694372"/>
                <a:ext cx="1861262" cy="1465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It effectively combines NLP, deep learning models, and trusted fact-checking sources to improve accuracy and reliability.</a:t>
                </a:r>
                <a:endParaRPr lang="en-IN" sz="1400" kern="1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4FB22B-E23B-4876-B42C-88B83C6551CE}"/>
              </a:ext>
            </a:extLst>
          </p:cNvPr>
          <p:cNvGrpSpPr/>
          <p:nvPr/>
        </p:nvGrpSpPr>
        <p:grpSpPr>
          <a:xfrm>
            <a:off x="5694997" y="2439579"/>
            <a:ext cx="3198180" cy="1814512"/>
            <a:chOff x="5694997" y="2439579"/>
            <a:chExt cx="3198180" cy="1814512"/>
          </a:xfrm>
        </p:grpSpPr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CCA78647-C166-476F-A1FD-0EE29644D1B7}"/>
                </a:ext>
              </a:extLst>
            </p:cNvPr>
            <p:cNvSpPr/>
            <p:nvPr/>
          </p:nvSpPr>
          <p:spPr>
            <a:xfrm rot="10800000">
              <a:off x="7683502" y="2439579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01DBCA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6C2BFD-5217-4986-AE1E-B31447735091}"/>
                </a:ext>
              </a:extLst>
            </p:cNvPr>
            <p:cNvGrpSpPr/>
            <p:nvPr/>
          </p:nvGrpSpPr>
          <p:grpSpPr>
            <a:xfrm>
              <a:off x="5694997" y="2501660"/>
              <a:ext cx="3143094" cy="1619950"/>
              <a:chOff x="5694997" y="2501660"/>
              <a:chExt cx="3143094" cy="1619950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582131C-D7C2-4F14-829A-177729947A0F}"/>
                  </a:ext>
                </a:extLst>
              </p:cNvPr>
              <p:cNvSpPr txBox="1"/>
              <p:nvPr/>
            </p:nvSpPr>
            <p:spPr>
              <a:xfrm>
                <a:off x="7738587" y="2501660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spc="300" dirty="0">
                  <a:solidFill>
                    <a:schemeClr val="bg1"/>
                  </a:solidFill>
                  <a:effectLst>
                    <a:outerShdw blurRad="177800" dist="38100" dir="2700000" algn="tl" rotWithShape="0">
                      <a:prstClr val="black">
                        <a:alpha val="58000"/>
                      </a:prstClr>
                    </a:outerShdw>
                  </a:effectLst>
                  <a:latin typeface="Pangram" panose="00000500000000000000" pitchFamily="50" charset="0"/>
                </a:endParaRP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A3A9D9D-E526-40E9-9022-793CBD595943}"/>
                  </a:ext>
                </a:extLst>
              </p:cNvPr>
              <p:cNvSpPr txBox="1"/>
              <p:nvPr/>
            </p:nvSpPr>
            <p:spPr>
              <a:xfrm>
                <a:off x="5694997" y="2736615"/>
                <a:ext cx="212753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system helps enhance information credibility and reduces the spread of false or misleading content.</a:t>
                </a:r>
                <a:endParaRPr lang="en-IN" sz="10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490F88-78FF-4DD4-BF17-B7B85C8EB478}"/>
              </a:ext>
            </a:extLst>
          </p:cNvPr>
          <p:cNvGrpSpPr/>
          <p:nvPr/>
        </p:nvGrpSpPr>
        <p:grpSpPr>
          <a:xfrm>
            <a:off x="2505074" y="452438"/>
            <a:ext cx="3533775" cy="1814512"/>
            <a:chOff x="2505074" y="452438"/>
            <a:chExt cx="3533775" cy="1814512"/>
          </a:xfrm>
        </p:grpSpPr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6EB20A42-9DF5-4657-AF64-3ED17D08A968}"/>
                </a:ext>
              </a:extLst>
            </p:cNvPr>
            <p:cNvSpPr/>
            <p:nvPr/>
          </p:nvSpPr>
          <p:spPr>
            <a:xfrm rot="10800000">
              <a:off x="2505074" y="452438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5A6869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C6DC0A4-CE12-44CB-966D-0628AC41BF07}"/>
                </a:ext>
              </a:extLst>
            </p:cNvPr>
            <p:cNvGrpSpPr/>
            <p:nvPr/>
          </p:nvGrpSpPr>
          <p:grpSpPr>
            <a:xfrm>
              <a:off x="2558199" y="589082"/>
              <a:ext cx="3480650" cy="1636446"/>
              <a:chOff x="2558199" y="589082"/>
              <a:chExt cx="3480650" cy="1636446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C122D6-B541-43AB-BDA0-5DA1D7093648}"/>
                  </a:ext>
                </a:extLst>
              </p:cNvPr>
              <p:cNvSpPr txBox="1"/>
              <p:nvPr/>
            </p:nvSpPr>
            <p:spPr>
              <a:xfrm>
                <a:off x="2558199" y="589082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spc="300" dirty="0">
                  <a:solidFill>
                    <a:schemeClr val="bg1"/>
                  </a:solidFill>
                  <a:effectLst>
                    <a:outerShdw blurRad="177800" dist="38100" dir="2700000" algn="tl" rotWithShape="0">
                      <a:prstClr val="black">
                        <a:alpha val="58000"/>
                      </a:prstClr>
                    </a:outerShdw>
                  </a:effectLst>
                  <a:latin typeface="Pangram" panose="00000500000000000000" pitchFamily="50" charset="0"/>
                </a:endParaRP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1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E5AD876-D1F8-46BC-92C8-ABDB88309514}"/>
                  </a:ext>
                </a:extLst>
              </p:cNvPr>
              <p:cNvSpPr txBox="1"/>
              <p:nvPr/>
            </p:nvSpPr>
            <p:spPr>
              <a:xfrm>
                <a:off x="3924142" y="625090"/>
                <a:ext cx="2114707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 dirty="0">
                    <a:latin typeface="Arial" panose="020B0604020202020204" pitchFamily="34" charset="0"/>
                  </a:rPr>
                  <a:t>The Fake News Detection &amp; Verification Tool offers an end-to-end AI-based solution for identifying and verifying misinformation in real time.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67170F-14B3-43B0-9F72-C7AB1C4F13D7}"/>
              </a:ext>
            </a:extLst>
          </p:cNvPr>
          <p:cNvGrpSpPr/>
          <p:nvPr/>
        </p:nvGrpSpPr>
        <p:grpSpPr>
          <a:xfrm>
            <a:off x="2869799" y="2439579"/>
            <a:ext cx="3026178" cy="1814512"/>
            <a:chOff x="2869799" y="2439579"/>
            <a:chExt cx="3026178" cy="1814512"/>
          </a:xfrm>
        </p:grpSpPr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6FE8DAFF-023A-487E-9AB3-D55DBA2E5CA0}"/>
                </a:ext>
              </a:extLst>
            </p:cNvPr>
            <p:cNvSpPr/>
            <p:nvPr/>
          </p:nvSpPr>
          <p:spPr>
            <a:xfrm rot="10800000">
              <a:off x="4686302" y="2439579"/>
              <a:ext cx="1209675" cy="1814512"/>
            </a:xfrm>
            <a:prstGeom prst="round2SameRect">
              <a:avLst>
                <a:gd name="adj1" fmla="val 22966"/>
                <a:gd name="adj2" fmla="val 0"/>
              </a:avLst>
            </a:prstGeom>
            <a:solidFill>
              <a:srgbClr val="96E100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88CBFE9-97A2-4939-BECF-15C223D6DC73}"/>
                </a:ext>
              </a:extLst>
            </p:cNvPr>
            <p:cNvGrpSpPr/>
            <p:nvPr/>
          </p:nvGrpSpPr>
          <p:grpSpPr>
            <a:xfrm>
              <a:off x="2869799" y="2508199"/>
              <a:ext cx="2978277" cy="1528198"/>
              <a:chOff x="2869799" y="2508199"/>
              <a:chExt cx="2978277" cy="1528198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FCD384F-45D0-48CF-B8B3-B50154041C2E}"/>
                  </a:ext>
                </a:extLst>
              </p:cNvPr>
              <p:cNvSpPr txBox="1"/>
              <p:nvPr/>
            </p:nvSpPr>
            <p:spPr>
              <a:xfrm>
                <a:off x="4748572" y="2508199"/>
                <a:ext cx="109950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spc="300" dirty="0">
                  <a:solidFill>
                    <a:schemeClr val="bg1"/>
                  </a:solidFill>
                  <a:effectLst>
                    <a:outerShdw blurRad="177800" dist="38100" dir="2700000" algn="tl" rotWithShape="0">
                      <a:prstClr val="black">
                        <a:alpha val="58000"/>
                      </a:prstClr>
                    </a:outerShdw>
                  </a:effectLst>
                  <a:latin typeface="Pangram" panose="00000500000000000000" pitchFamily="50" charset="0"/>
                </a:endParaRPr>
              </a:p>
              <a:p>
                <a:pPr algn="ctr"/>
                <a:r>
                  <a:rPr lang="en-IN" sz="6000" spc="300" dirty="0">
                    <a:solidFill>
                      <a:schemeClr val="bg1"/>
                    </a:solidFill>
                    <a:effectLst>
                      <a:outerShdw blurRad="177800" dist="38100" dir="2700000" algn="tl" rotWithShape="0">
                        <a:prstClr val="black">
                          <a:alpha val="58000"/>
                        </a:prstClr>
                      </a:outerShdw>
                    </a:effectLst>
                    <a:latin typeface="Product Sans" panose="020B0703030502040203" pitchFamily="34" charset="0"/>
                  </a:rPr>
                  <a:t>4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800714D-07BA-41F8-BBF2-262402ECC6BA}"/>
                  </a:ext>
                </a:extLst>
              </p:cNvPr>
              <p:cNvSpPr txBox="1"/>
              <p:nvPr/>
            </p:nvSpPr>
            <p:spPr>
              <a:xfrm>
                <a:off x="2869799" y="2866846"/>
                <a:ext cx="176141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It promotes digital literacy by enabling users to critically evaluate news and online information.</a:t>
                </a:r>
                <a:endParaRPr lang="en-IN" sz="10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698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E768E-7711-322E-8D6D-25FB47C68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" y="339682"/>
            <a:ext cx="11041626" cy="6178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9163D5-05FE-395A-B338-E880BA05CEBA}"/>
              </a:ext>
            </a:extLst>
          </p:cNvPr>
          <p:cNvSpPr txBox="1"/>
          <p:nvPr/>
        </p:nvSpPr>
        <p:spPr>
          <a:xfrm>
            <a:off x="5235828" y="0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Sample Outputs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29866-F3EC-0A99-DDF7-42259F8593BD}"/>
              </a:ext>
            </a:extLst>
          </p:cNvPr>
          <p:cNvSpPr txBox="1"/>
          <p:nvPr/>
        </p:nvSpPr>
        <p:spPr>
          <a:xfrm>
            <a:off x="5987846" y="6488668"/>
            <a:ext cx="1206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Login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70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3E4D0-DF2A-7772-F8AE-E0BF0BE0F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6" y="245807"/>
            <a:ext cx="11572567" cy="59085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4908C3-B73F-EA7B-26DC-8A1ED9D1BC5F}"/>
              </a:ext>
            </a:extLst>
          </p:cNvPr>
          <p:cNvSpPr txBox="1"/>
          <p:nvPr/>
        </p:nvSpPr>
        <p:spPr>
          <a:xfrm>
            <a:off x="5309419" y="6383288"/>
            <a:ext cx="1269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Home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421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5CE810-C2CD-27DF-08AC-43A95FFA9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3" y="0"/>
            <a:ext cx="11248104" cy="6371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57E83E-89E0-663A-420D-B5EE2E79C41F}"/>
              </a:ext>
            </a:extLst>
          </p:cNvPr>
          <p:cNvSpPr txBox="1"/>
          <p:nvPr/>
        </p:nvSpPr>
        <p:spPr>
          <a:xfrm>
            <a:off x="5506064" y="6371303"/>
            <a:ext cx="190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Admin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680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753DB-4918-9737-2401-AC2FDC8AA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090"/>
            <a:ext cx="12192000" cy="5859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D879DC-6239-35C9-40DB-27EA86592491}"/>
              </a:ext>
            </a:extLst>
          </p:cNvPr>
          <p:cNvSpPr txBox="1"/>
          <p:nvPr/>
        </p:nvSpPr>
        <p:spPr>
          <a:xfrm>
            <a:off x="5142271" y="6358910"/>
            <a:ext cx="229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Analysis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159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38343-0ED5-B83C-6662-07F9145AB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831"/>
            <a:ext cx="12192000" cy="583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0075AE-5C29-5992-423C-39597B46B153}"/>
              </a:ext>
            </a:extLst>
          </p:cNvPr>
          <p:cNvSpPr txBox="1"/>
          <p:nvPr/>
        </p:nvSpPr>
        <p:spPr>
          <a:xfrm>
            <a:off x="5739780" y="6345168"/>
            <a:ext cx="71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Users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8130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FA60A7-43D3-A3B6-7708-A151CEB8B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4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785</Words>
  <Application>Microsoft Office PowerPoint</Application>
  <PresentationFormat>Widescreen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2" baseType="lpstr">
      <vt:lpstr>Arca Majora 3 Bold</vt:lpstr>
      <vt:lpstr>Arial</vt:lpstr>
      <vt:lpstr>Bahnschrift Condensed</vt:lpstr>
      <vt:lpstr>Bebas Neue Bold</vt:lpstr>
      <vt:lpstr>Calibri</vt:lpstr>
      <vt:lpstr>Calibri Light</vt:lpstr>
      <vt:lpstr>Economica</vt:lpstr>
      <vt:lpstr>Eurostile BQ</vt:lpstr>
      <vt:lpstr>Open Sans</vt:lpstr>
      <vt:lpstr>Open Sans Condensed Light</vt:lpstr>
      <vt:lpstr>Pangram</vt:lpstr>
      <vt:lpstr>Prime</vt:lpstr>
      <vt:lpstr>Product Sans</vt:lpstr>
      <vt:lpstr>Titillium Web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Etlii</dc:creator>
  <cp:lastModifiedBy>Rohit Kotare</cp:lastModifiedBy>
  <cp:revision>92</cp:revision>
  <dcterms:created xsi:type="dcterms:W3CDTF">2021-12-19T15:15:22Z</dcterms:created>
  <dcterms:modified xsi:type="dcterms:W3CDTF">2026-02-23T12:38:37Z</dcterms:modified>
</cp:coreProperties>
</file>